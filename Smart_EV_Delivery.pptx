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26" r:id="rId1"/>
  </p:sldMasterIdLst>
  <p:notesMasterIdLst>
    <p:notesMasterId r:id="rId12"/>
  </p:notesMasterIdLst>
  <p:handoutMasterIdLst>
    <p:handoutMasterId r:id="rId13"/>
  </p:handoutMasterIdLst>
  <p:sldIdLst>
    <p:sldId id="256" r:id="rId2"/>
    <p:sldId id="257" r:id="rId3"/>
    <p:sldId id="258" r:id="rId4"/>
    <p:sldId id="259" r:id="rId5"/>
    <p:sldId id="260" r:id="rId6"/>
    <p:sldId id="261" r:id="rId7"/>
    <p:sldId id="262" r:id="rId8"/>
    <p:sldId id="263" r:id="rId9"/>
    <p:sldId id="264" r:id="rId10"/>
    <p:sldId id="265" r:id="rId1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703" autoAdjust="0"/>
    <p:restoredTop sz="69523" autoAdjust="0"/>
  </p:normalViewPr>
  <p:slideViewPr>
    <p:cSldViewPr>
      <p:cViewPr varScale="1">
        <p:scale>
          <a:sx n="87" d="100"/>
          <a:sy n="87" d="100"/>
        </p:scale>
        <p:origin x="-1512" y="-86"/>
      </p:cViewPr>
      <p:guideLst>
        <p:guide orient="horz" pos="2160"/>
        <p:guide pos="2880"/>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handoutMaster" Target="handoutMasters/handout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E259A820-CCA6-4954-9E16-78010852AF7F}" type="datetimeFigureOut">
              <a:rPr lang="en-IN" smtClean="0"/>
              <a:t>04-05-2026</a:t>
            </a:fld>
            <a:endParaRPr lang="en-IN"/>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5B2DE727-7F30-4F0E-A286-E2F906917DF4}" type="slidenum">
              <a:rPr lang="en-IN" smtClean="0"/>
              <a:t>‹#›</a:t>
            </a:fld>
            <a:endParaRPr lang="en-IN"/>
          </a:p>
        </p:txBody>
      </p:sp>
    </p:spTree>
    <p:extLst>
      <p:ext uri="{BB962C8B-B14F-4D97-AF65-F5344CB8AC3E}">
        <p14:creationId xmlns:p14="http://schemas.microsoft.com/office/powerpoint/2010/main" val="1289172976"/>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FFA2C21-A603-4CFE-B0E2-E41A47B58910}" type="datetimeFigureOut">
              <a:rPr lang="en-IN" smtClean="0"/>
              <a:t>04-05-2026</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9176E8-DBD2-4990-B962-92617A0EFBED}" type="slidenum">
              <a:rPr lang="en-IN" smtClean="0"/>
              <a:t>‹#›</a:t>
            </a:fld>
            <a:endParaRPr lang="en-IN"/>
          </a:p>
        </p:txBody>
      </p:sp>
    </p:spTree>
    <p:extLst>
      <p:ext uri="{BB962C8B-B14F-4D97-AF65-F5344CB8AC3E}">
        <p14:creationId xmlns:p14="http://schemas.microsoft.com/office/powerpoint/2010/main" val="3769731512"/>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b="0" i="0" kern="1200" dirty="0" smtClean="0">
                <a:solidFill>
                  <a:schemeClr val="tx1"/>
                </a:solidFill>
                <a:effectLst/>
                <a:latin typeface="+mn-lt"/>
                <a:ea typeface="+mn-ea"/>
                <a:cs typeface="+mn-cs"/>
              </a:rPr>
              <a:t>Good [morning/afternoon]. I am </a:t>
            </a:r>
            <a:r>
              <a:rPr lang="en-IN" sz="1200" b="0" i="0" kern="1200" dirty="0" err="1" smtClean="0">
                <a:solidFill>
                  <a:schemeClr val="tx1"/>
                </a:solidFill>
                <a:effectLst/>
                <a:latin typeface="+mn-lt"/>
                <a:ea typeface="+mn-ea"/>
                <a:cs typeface="+mn-cs"/>
              </a:rPr>
              <a:t>Munaga</a:t>
            </a:r>
            <a:r>
              <a:rPr lang="en-IN" sz="1200" b="0" i="0" kern="1200" dirty="0" smtClean="0">
                <a:solidFill>
                  <a:schemeClr val="tx1"/>
                </a:solidFill>
                <a:effectLst/>
                <a:latin typeface="+mn-lt"/>
                <a:ea typeface="+mn-ea"/>
                <a:cs typeface="+mn-cs"/>
              </a:rPr>
              <a:t> </a:t>
            </a:r>
            <a:r>
              <a:rPr lang="en-IN" sz="1200" b="0" i="0" kern="1200" dirty="0" err="1" smtClean="0">
                <a:solidFill>
                  <a:schemeClr val="tx1"/>
                </a:solidFill>
                <a:effectLst/>
                <a:latin typeface="+mn-lt"/>
                <a:ea typeface="+mn-ea"/>
                <a:cs typeface="+mn-cs"/>
              </a:rPr>
              <a:t>Asritha</a:t>
            </a:r>
            <a:r>
              <a:rPr lang="en-IN" sz="1200" b="0" i="0" kern="1200" dirty="0" smtClean="0">
                <a:solidFill>
                  <a:schemeClr val="tx1"/>
                </a:solidFill>
                <a:effectLst/>
                <a:latin typeface="+mn-lt"/>
                <a:ea typeface="+mn-ea"/>
                <a:cs typeface="+mn-cs"/>
              </a:rPr>
              <a:t>.</a:t>
            </a:r>
            <a:r>
              <a:rPr lang="en-IN" sz="1200" b="0" i="0" kern="1200" baseline="0" dirty="0" smtClean="0">
                <a:solidFill>
                  <a:schemeClr val="tx1"/>
                </a:solidFill>
                <a:effectLst/>
                <a:latin typeface="+mn-lt"/>
                <a:ea typeface="+mn-ea"/>
                <a:cs typeface="+mn-cs"/>
              </a:rPr>
              <a:t> </a:t>
            </a:r>
            <a:r>
              <a:rPr lang="en-IN" sz="1200" b="0" i="0" kern="1200" dirty="0" smtClean="0">
                <a:solidFill>
                  <a:schemeClr val="tx1"/>
                </a:solidFill>
                <a:effectLst/>
                <a:latin typeface="+mn-lt"/>
                <a:ea typeface="+mn-ea"/>
                <a:cs typeface="+mn-cs"/>
              </a:rPr>
              <a:t>Today I am presenting my final project titled Smart EV Delivery System Using A* with Battery Constraint.</a:t>
            </a:r>
          </a:p>
          <a:p>
            <a:endParaRPr lang="en-IN" dirty="0"/>
          </a:p>
        </p:txBody>
      </p:sp>
      <p:sp>
        <p:nvSpPr>
          <p:cNvPr id="4" name="Slide Number Placeholder 3"/>
          <p:cNvSpPr>
            <a:spLocks noGrp="1"/>
          </p:cNvSpPr>
          <p:nvPr>
            <p:ph type="sldNum" sz="quarter" idx="10"/>
          </p:nvPr>
        </p:nvSpPr>
        <p:spPr/>
        <p:txBody>
          <a:bodyPr/>
          <a:lstStyle/>
          <a:p>
            <a:fld id="{BB9176E8-DBD2-4990-B962-92617A0EFBED}" type="slidenum">
              <a:rPr lang="en-IN" smtClean="0"/>
              <a:t>1</a:t>
            </a:fld>
            <a:endParaRPr lang="en-I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mtClean="0"/>
              <a:t>Normal delivery </a:t>
            </a:r>
            <a:r>
              <a:rPr lang="en-US" dirty="0" smtClean="0"/>
              <a:t>systems rely heavily on human decision-making. When routes change, it requires manual intervention — a dispatcher deciding which vehicle to assign or when to reroute. </a:t>
            </a:r>
            <a:r>
              <a:rPr lang="en-US" altLang="en-GB" dirty="0" smtClean="0"/>
              <a:t>This is where the normal system fails.</a:t>
            </a:r>
          </a:p>
          <a:p>
            <a:r>
              <a:rPr lang="en-US" altLang="en-GB" dirty="0" smtClean="0"/>
              <a:t> Let me explain with two situations.</a:t>
            </a:r>
          </a:p>
          <a:p>
            <a:r>
              <a:rPr lang="en-US" altLang="en-GB" dirty="0" smtClean="0"/>
              <a:t>The first situation is battery. EVs have limited charge unlike fuel vehicles. If battery drops during delivery, someone has to decide — continue, go to a charger, or reassign the order. A traditional system has no automatic way to handle this. A human has to make that call every time.</a:t>
            </a:r>
          </a:p>
          <a:p>
            <a:r>
              <a:rPr lang="en-US" altLang="en-GB" dirty="0" smtClean="0"/>
              <a:t>The second situation is urgent orders. A new high-priority order can arrive while all EVs are already delivering. A dispatcher has to manually check which EV is free, how much battery it has, what it is carrying — and then reassign. That takes time. In real delivery, that delay matters.</a:t>
            </a:r>
          </a:p>
          <a:p>
            <a:r>
              <a:rPr lang="en-US" dirty="0" smtClean="0"/>
              <a:t>So in this project, I developed a fully autonomous delivery system where EVs make decisions in real time. It uses A* </a:t>
            </a:r>
            <a:r>
              <a:rPr lang="en-US" dirty="0" err="1" smtClean="0"/>
              <a:t>pathfinding</a:t>
            </a:r>
            <a:r>
              <a:rPr lang="en-US" dirty="0" smtClean="0"/>
              <a:t> for optimal routes, priority-based scheduling with aging so Express orders are always picked first when an EV is available, and battery-aware rerouting — all without human intervention.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mn-ea"/>
                <a:cs typeface="+mn-cs"/>
              </a:rPr>
              <a:t>"My system is built in Python using </a:t>
            </a:r>
            <a:r>
              <a:rPr lang="en-US" sz="1200" b="0" i="0" kern="1200" dirty="0" err="1" smtClean="0">
                <a:solidFill>
                  <a:schemeClr val="tx1"/>
                </a:solidFill>
                <a:effectLst/>
                <a:latin typeface="+mn-lt"/>
                <a:ea typeface="+mn-ea"/>
                <a:cs typeface="+mn-cs"/>
              </a:rPr>
              <a:t>Pygame</a:t>
            </a:r>
            <a:r>
              <a:rPr lang="en-US" sz="1200" b="0" i="0" kern="1200" dirty="0" smtClean="0">
                <a:solidFill>
                  <a:schemeClr val="tx1"/>
                </a:solidFill>
                <a:effectLst/>
                <a:latin typeface="+mn-lt"/>
                <a:ea typeface="+mn-ea"/>
                <a:cs typeface="+mn-cs"/>
              </a:rPr>
              <a:t> and structured into six modules. </a:t>
            </a:r>
            <a:br>
              <a:rPr lang="en-US" sz="1200" b="0" i="0" kern="1200" dirty="0" smtClean="0">
                <a:solidFill>
                  <a:schemeClr val="tx1"/>
                </a:solidFill>
                <a:effectLst/>
                <a:latin typeface="+mn-lt"/>
                <a:ea typeface="+mn-ea"/>
                <a:cs typeface="+mn-cs"/>
              </a:rPr>
            </a:br>
            <a:r>
              <a:rPr lang="en-US" sz="1200" b="0" i="0" kern="1200" dirty="0" smtClean="0">
                <a:solidFill>
                  <a:schemeClr val="tx1"/>
                </a:solidFill>
                <a:effectLst/>
                <a:latin typeface="+mn-lt"/>
                <a:ea typeface="+mn-ea"/>
                <a:cs typeface="+mn-cs"/>
              </a:rPr>
              <a:t/>
            </a:r>
            <a:br>
              <a:rPr lang="en-US" sz="1200" b="0" i="0" kern="1200" dirty="0" smtClean="0">
                <a:solidFill>
                  <a:schemeClr val="tx1"/>
                </a:solidFill>
                <a:effectLst/>
                <a:latin typeface="+mn-lt"/>
                <a:ea typeface="+mn-ea"/>
                <a:cs typeface="+mn-cs"/>
              </a:rPr>
            </a:br>
            <a:r>
              <a:rPr lang="en-US" sz="1200" b="0" i="0" kern="1200" dirty="0" smtClean="0">
                <a:solidFill>
                  <a:schemeClr val="tx1"/>
                </a:solidFill>
                <a:effectLst/>
                <a:latin typeface="+mn-lt"/>
                <a:ea typeface="+mn-ea"/>
                <a:cs typeface="+mn-cs"/>
              </a:rPr>
              <a:t>Each EV operates as an autonomous agent cycling through six states: idle, loading, delivering, returning, charging, and in edge cases — stranded. The transitions between these states are all driven by real-time conditions: battery level, order availability, and path feasibility.</a:t>
            </a:r>
          </a:p>
          <a:p>
            <a:endParaRPr lang="en-IN" dirty="0"/>
          </a:p>
          <a:p>
            <a:r>
              <a:rPr lang="en-US" dirty="0" smtClean="0">
                <a:effectLst/>
                <a:sym typeface="+mn-ea"/>
              </a:rPr>
              <a:t>config.py stores all constants — grid dimensions, battery limits, EV speed, batch size. world.py generates the city map — roads, warehouses, chargers, houses — and contains the A* </a:t>
            </a:r>
            <a:r>
              <a:rPr lang="en-US" dirty="0" err="1" smtClean="0">
                <a:effectLst/>
                <a:sym typeface="+mn-ea"/>
              </a:rPr>
              <a:t>pathfinding</a:t>
            </a:r>
            <a:r>
              <a:rPr lang="en-US" dirty="0" smtClean="0">
                <a:effectLst/>
                <a:sym typeface="+mn-ea"/>
              </a:rPr>
              <a:t> algorithm. orders.py manages the priority queue with the aging mechanism. ev.py is the brain of each EV — it controls the full state machine. ui.py handles all </a:t>
            </a:r>
            <a:r>
              <a:rPr lang="en-US" dirty="0" err="1" smtClean="0">
                <a:effectLst/>
                <a:sym typeface="+mn-ea"/>
              </a:rPr>
              <a:t>Pygame</a:t>
            </a:r>
            <a:r>
              <a:rPr lang="en-US" dirty="0" smtClean="0">
                <a:effectLst/>
                <a:sym typeface="+mn-ea"/>
              </a:rPr>
              <a:t> rendering. And main.py is the game loop tying everything together.</a:t>
            </a:r>
            <a:endParaRPr lang="en-IN" dirty="0"/>
          </a:p>
        </p:txBody>
      </p:sp>
      <p:sp>
        <p:nvSpPr>
          <p:cNvPr id="4" name="Slide Number Placeholder 3"/>
          <p:cNvSpPr>
            <a:spLocks noGrp="1"/>
          </p:cNvSpPr>
          <p:nvPr>
            <p:ph type="sldNum" sz="quarter" idx="10"/>
          </p:nvPr>
        </p:nvSpPr>
        <p:spPr/>
        <p:txBody>
          <a:bodyPr/>
          <a:lstStyle/>
          <a:p>
            <a:fld id="{BB9176E8-DBD2-4990-B962-92617A0EFBED}" type="slidenum">
              <a:rPr lang="en-IN" smtClean="0"/>
              <a:t>3</a:t>
            </a:fld>
            <a:endParaRPr lang="en-I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mn-ea"/>
                <a:cs typeface="+mn-cs"/>
              </a:rPr>
              <a:t>The core AI algorithm powering this system is A* — A-star — </a:t>
            </a:r>
            <a:r>
              <a:rPr lang="en-US" sz="1200" b="0" i="0" kern="1200" dirty="0" err="1" smtClean="0">
                <a:solidFill>
                  <a:schemeClr val="tx1"/>
                </a:solidFill>
                <a:effectLst/>
                <a:latin typeface="+mn-lt"/>
                <a:ea typeface="+mn-ea"/>
                <a:cs typeface="+mn-cs"/>
              </a:rPr>
              <a:t>pathfinding</a:t>
            </a:r>
            <a:r>
              <a:rPr lang="en-US" sz="1200" b="0" i="0" kern="1200" dirty="0" smtClean="0">
                <a:solidFill>
                  <a:schemeClr val="tx1"/>
                </a:solidFill>
                <a:effectLst/>
                <a:latin typeface="+mn-lt"/>
                <a:ea typeface="+mn-ea"/>
                <a:cs typeface="+mn-cs"/>
              </a:rPr>
              <a:t>. Let me explain exactly how it works in my code.</a:t>
            </a:r>
            <a:r>
              <a:rPr lang="en-US" dirty="0" smtClean="0"/>
              <a:t/>
            </a:r>
            <a:br>
              <a:rPr lang="en-US" dirty="0" smtClean="0"/>
            </a:br>
            <a:r>
              <a:rPr lang="en-US" sz="1200" b="0" i="0" kern="1200" dirty="0" smtClean="0">
                <a:solidFill>
                  <a:schemeClr val="tx1"/>
                </a:solidFill>
                <a:effectLst/>
                <a:latin typeface="+mn-lt"/>
                <a:ea typeface="+mn-ea"/>
                <a:cs typeface="+mn-cs"/>
              </a:rPr>
              <a:t>A* finds the shortest path between two points using this formula: f(n) equals g(n) plus h(n). g(n) is the actual number of steps taken from the start node to the current node. h(n) is the estimated distance from the current node to the goal — I use Manhattan distance for this, which is the absolute difference in rows plus the absolute difference in columns.</a:t>
            </a:r>
            <a:r>
              <a:rPr lang="en-US" dirty="0" smtClean="0"/>
              <a:t/>
            </a:r>
            <a:br>
              <a:rPr lang="en-US" dirty="0" smtClean="0"/>
            </a:br>
            <a:r>
              <a:rPr lang="en-US" sz="1200" b="0" i="0" kern="1200" dirty="0" smtClean="0">
                <a:solidFill>
                  <a:schemeClr val="tx1"/>
                </a:solidFill>
                <a:effectLst/>
                <a:latin typeface="+mn-lt"/>
                <a:ea typeface="+mn-ea"/>
                <a:cs typeface="+mn-cs"/>
              </a:rPr>
              <a:t>Why Manhattan? Because in my grid, EVs can only move in four directions — up, down, left, right. No diagonal movement is allowed. This means the true shortest path between any two points can never be less than the Manhattan distance. This property is called admissibility — the heuristic never overestimates — and it guarantees A* always finds the optimal path.</a:t>
            </a:r>
            <a:r>
              <a:rPr lang="en-US" dirty="0" smtClean="0"/>
              <a:t/>
            </a:r>
            <a:br>
              <a:rPr lang="en-US" dirty="0" smtClean="0"/>
            </a:br>
            <a:r>
              <a:rPr lang="en-US" sz="1200" b="0" i="0" kern="1200" dirty="0" smtClean="0">
                <a:solidFill>
                  <a:schemeClr val="tx1"/>
                </a:solidFill>
                <a:effectLst/>
                <a:latin typeface="+mn-lt"/>
                <a:ea typeface="+mn-ea"/>
                <a:cs typeface="+mn-cs"/>
              </a:rPr>
              <a:t>If A* returns an empty path — meaning no road connects the EV to the delivery house — a blocked-route dialog appears. It shows the five nearest road nodes around that house so the user can manually select an alternate delivery point. If nobody selects within 6 seconds, the order is auto-skipped.</a:t>
            </a:r>
            <a:r>
              <a:rPr lang="en-US" dirty="0" smtClean="0"/>
              <a:t/>
            </a:r>
            <a:br>
              <a:rPr lang="en-US" dirty="0" smtClean="0"/>
            </a:br>
            <a:r>
              <a:rPr lang="en-US" sz="1200" b="0" i="0" kern="1200" dirty="0" smtClean="0">
                <a:solidFill>
                  <a:schemeClr val="tx1"/>
                </a:solidFill>
                <a:effectLst/>
                <a:latin typeface="+mn-lt"/>
                <a:ea typeface="+mn-ea"/>
                <a:cs typeface="+mn-cs"/>
              </a:rPr>
              <a:t>Why A* over alternatives? </a:t>
            </a:r>
            <a:r>
              <a:rPr lang="en-US" sz="1200" b="0" i="0" kern="1200" dirty="0" err="1" smtClean="0">
                <a:solidFill>
                  <a:schemeClr val="tx1"/>
                </a:solidFill>
                <a:effectLst/>
                <a:latin typeface="+mn-lt"/>
                <a:ea typeface="+mn-ea"/>
                <a:cs typeface="+mn-cs"/>
              </a:rPr>
              <a:t>Dijkstra</a:t>
            </a:r>
            <a:r>
              <a:rPr lang="en-US" sz="1200" b="0" i="0" kern="1200" dirty="0" smtClean="0">
                <a:solidFill>
                  <a:schemeClr val="tx1"/>
                </a:solidFill>
                <a:effectLst/>
                <a:latin typeface="+mn-lt"/>
                <a:ea typeface="+mn-ea"/>
                <a:cs typeface="+mn-cs"/>
              </a:rPr>
              <a:t> expands all nodes equally in every direction — it doesn't know where the goal is. BFS finds </a:t>
            </a:r>
            <a:r>
              <a:rPr lang="en-US" sz="1200" b="0" i="0" kern="1200" smtClean="0">
                <a:solidFill>
                  <a:schemeClr val="tx1"/>
                </a:solidFill>
                <a:effectLst/>
                <a:latin typeface="+mn-lt"/>
                <a:ea typeface="+mn-ea"/>
                <a:cs typeface="+mn-cs"/>
              </a:rPr>
              <a:t>shortest hopes </a:t>
            </a:r>
            <a:r>
              <a:rPr lang="en-US" sz="1200" b="0" i="0" kern="1200" dirty="0" smtClean="0">
                <a:solidFill>
                  <a:schemeClr val="tx1"/>
                </a:solidFill>
                <a:effectLst/>
                <a:latin typeface="+mn-lt"/>
                <a:ea typeface="+mn-ea"/>
                <a:cs typeface="+mn-cs"/>
              </a:rPr>
              <a:t>but treats all paths as equal. A* is faster than both because the heuristic guides the search toward the goal, skipping nodes that are clearly in the wrong direction.</a:t>
            </a:r>
            <a:endParaRPr lang="en-IN" dirty="0"/>
          </a:p>
        </p:txBody>
      </p:sp>
      <p:sp>
        <p:nvSpPr>
          <p:cNvPr id="4" name="Slide Number Placeholder 3"/>
          <p:cNvSpPr>
            <a:spLocks noGrp="1"/>
          </p:cNvSpPr>
          <p:nvPr>
            <p:ph type="sldNum" sz="quarter" idx="10"/>
          </p:nvPr>
        </p:nvSpPr>
        <p:spPr/>
        <p:txBody>
          <a:bodyPr/>
          <a:lstStyle/>
          <a:p>
            <a:fld id="{BB9176E8-DBD2-4990-B962-92617A0EFBED}" type="slidenum">
              <a:rPr lang="en-IN" smtClean="0"/>
              <a:t>4</a:t>
            </a:fld>
            <a:endParaRPr lang="en-I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mn-ea"/>
                <a:cs typeface="+mn-cs"/>
              </a:rPr>
              <a:t>My system has four intelligent features that go beyond basic </a:t>
            </a:r>
            <a:r>
              <a:rPr lang="en-US" sz="1200" b="0" i="0" kern="1200" dirty="0" err="1" smtClean="0">
                <a:solidFill>
                  <a:schemeClr val="tx1"/>
                </a:solidFill>
                <a:effectLst/>
                <a:latin typeface="+mn-lt"/>
                <a:ea typeface="+mn-ea"/>
                <a:cs typeface="+mn-cs"/>
              </a:rPr>
              <a:t>pathfinding</a:t>
            </a:r>
            <a:r>
              <a:rPr lang="en-US" sz="1200" b="0" i="0" kern="1200" dirty="0" smtClean="0">
                <a:solidFill>
                  <a:schemeClr val="tx1"/>
                </a:solidFill>
                <a:effectLst/>
                <a:latin typeface="+mn-lt"/>
                <a:ea typeface="+mn-ea"/>
                <a:cs typeface="+mn-cs"/>
              </a:rPr>
              <a:t>.</a:t>
            </a:r>
            <a:r>
              <a:rPr lang="en-US" dirty="0" smtClean="0"/>
              <a:t/>
            </a:r>
            <a:br>
              <a:rPr lang="en-US" dirty="0" smtClean="0"/>
            </a:br>
            <a:r>
              <a:rPr lang="en-US" dirty="0" smtClean="0"/>
              <a:t/>
            </a:r>
            <a:br>
              <a:rPr lang="en-US" dirty="0" smtClean="0"/>
            </a:br>
            <a:r>
              <a:rPr lang="en-IN" altLang="en-US" sz="1200" b="0" i="0" kern="1200" dirty="0" smtClean="0">
                <a:solidFill>
                  <a:schemeClr val="tx1"/>
                </a:solidFill>
                <a:effectLst/>
                <a:latin typeface="+mn-lt"/>
                <a:ea typeface="+mn-ea"/>
                <a:cs typeface="+mn-cs"/>
              </a:rPr>
              <a:t>1st</a:t>
            </a:r>
            <a:r>
              <a:rPr lang="en-US" sz="1200" b="0" i="0" kern="1200" dirty="0" smtClean="0">
                <a:solidFill>
                  <a:schemeClr val="tx1"/>
                </a:solidFill>
                <a:effectLst/>
                <a:latin typeface="+mn-lt"/>
                <a:ea typeface="+mn-ea"/>
                <a:cs typeface="+mn-cs"/>
              </a:rPr>
              <a:t>— Battery Management. Each EV starts at 100 battery units. Every grid cell the EV moves costs exactly 1 unit. When battery falls to 25 or below — that is the </a:t>
            </a:r>
            <a:r>
              <a:rPr lang="en-US" sz="1200" b="0" i="0" kern="1200" dirty="0" err="1" smtClean="0">
                <a:solidFill>
                  <a:schemeClr val="tx1"/>
                </a:solidFill>
                <a:effectLst/>
                <a:latin typeface="+mn-lt"/>
                <a:ea typeface="+mn-ea"/>
                <a:cs typeface="+mn-cs"/>
              </a:rPr>
              <a:t>Low_Battery</a:t>
            </a:r>
            <a:r>
              <a:rPr lang="en-US" sz="1200" b="0" i="0" kern="1200" dirty="0" smtClean="0">
                <a:solidFill>
                  <a:schemeClr val="tx1"/>
                </a:solidFill>
                <a:effectLst/>
                <a:latin typeface="+mn-lt"/>
                <a:ea typeface="+mn-ea"/>
                <a:cs typeface="+mn-cs"/>
              </a:rPr>
              <a:t> threshold — the EV automatically runs A* again to find the nearest charger. If a charger is reachable, it reroutes there. If not, it tries to return to the warehouse. If neither is reachable, the EV is stranded, its loaded orders are re-queued with a priority boost, and it waits for a reset.</a:t>
            </a:r>
          </a:p>
          <a:p>
            <a:r>
              <a:rPr lang="en-US" dirty="0" smtClean="0"/>
              <a:t/>
            </a:r>
            <a:br>
              <a:rPr lang="en-US" dirty="0" smtClean="0"/>
            </a:br>
            <a:r>
              <a:rPr lang="en-IN" altLang="en-US" dirty="0" smtClean="0">
                <a:effectLst/>
                <a:sym typeface="+mn-ea"/>
              </a:rPr>
              <a:t>2nd</a:t>
            </a:r>
            <a:r>
              <a:rPr lang="en-US" dirty="0" smtClean="0">
                <a:effectLst/>
                <a:sym typeface="+mn-ea"/>
              </a:rPr>
              <a:t>— Priority Order Scheduling. There are three delivery modes. Express orders are marked with red pins and get the highest priority — any EV mid-delivery can be rerouted when a new Express order arrives. Standard orders go into a normal queue. Scheduled orders are created with a user-defined time delay and only activate when that time is reached.</a:t>
            </a:r>
          </a:p>
          <a:p>
            <a:r>
              <a:rPr lang="en-US" dirty="0" smtClean="0"/>
              <a:t/>
            </a:r>
            <a:br>
              <a:rPr lang="en-US" dirty="0" smtClean="0"/>
            </a:br>
            <a:r>
              <a:rPr lang="en-IN" altLang="en-US" sz="1200" b="0" i="0" kern="1200" dirty="0" smtClean="0">
                <a:solidFill>
                  <a:schemeClr val="tx1"/>
                </a:solidFill>
                <a:effectLst/>
                <a:latin typeface="+mn-lt"/>
                <a:ea typeface="+mn-ea"/>
                <a:cs typeface="+mn-cs"/>
              </a:rPr>
              <a:t>3rd</a:t>
            </a:r>
            <a:r>
              <a:rPr lang="en-US" sz="1200" b="0" i="0" kern="1200" dirty="0" smtClean="0">
                <a:solidFill>
                  <a:schemeClr val="tx1"/>
                </a:solidFill>
                <a:effectLst/>
                <a:latin typeface="+mn-lt"/>
                <a:ea typeface="+mn-ea"/>
                <a:cs typeface="+mn-cs"/>
              </a:rPr>
              <a:t>— Order Batching. Instead of one delivery per trip, each EV picks up to 5 orders grouped by location. The highest-priority order becomes the anchor, and then the 4 nearest orders by Manhattan distance are added. This reduces total travel distance significantly — the EV makes fewer trips to cover the same number of deliveries.</a:t>
            </a:r>
            <a:endParaRPr lang="en-US" dirty="0" smtClean="0"/>
          </a:p>
          <a:p>
            <a:endParaRPr lang="en-US" b="0" i="0" kern="1200" dirty="0" smtClean="0">
              <a:solidFill>
                <a:schemeClr val="tx1"/>
              </a:solidFill>
              <a:effectLst/>
              <a:latin typeface="+mn-lt"/>
              <a:ea typeface="+mn-ea"/>
              <a:cs typeface="+mn-cs"/>
            </a:endParaRPr>
          </a:p>
          <a:p>
            <a:r>
              <a:rPr lang="en-IN" altLang="en-US" dirty="0" smtClean="0">
                <a:sym typeface="+mn-ea"/>
              </a:rPr>
              <a:t>4th</a:t>
            </a:r>
            <a:r>
              <a:rPr lang="en-US" dirty="0" smtClean="0">
                <a:sym typeface="+mn-ea"/>
              </a:rPr>
              <a:t>— Auto and Manual Modes</a:t>
            </a:r>
            <a:br>
              <a:rPr lang="en-US" dirty="0" smtClean="0">
                <a:sym typeface="+mn-ea"/>
              </a:rPr>
            </a:br>
            <a:r>
              <a:rPr lang="en-US" dirty="0" smtClean="0">
                <a:sym typeface="+mn-ea"/>
              </a:rPr>
              <a:t>The system works in two modes. In Auto mode, orders are generated automatically, which helps test large-scale behavior. In Manual mode, the user can click on houses and create orders with different priorities. This makes it easy to test specific scenarios and understand how the system reacts.</a:t>
            </a:r>
            <a:endParaRPr lang="en-US" dirty="0" smtClean="0"/>
          </a:p>
          <a:p>
            <a:r>
              <a:rPr lang="en-US" dirty="0" smtClean="0"/>
              <a:t/>
            </a:r>
            <a:br>
              <a:rPr lang="en-US" dirty="0" smtClean="0"/>
            </a:br>
            <a:r>
              <a:rPr lang="en-IN" altLang="en-US" sz="1200" b="0" i="0" kern="1200" dirty="0" smtClean="0">
                <a:solidFill>
                  <a:schemeClr val="tx1"/>
                </a:solidFill>
                <a:effectLst/>
                <a:latin typeface="+mn-lt"/>
                <a:ea typeface="+mn-ea"/>
                <a:cs typeface="+mn-cs"/>
              </a:rPr>
              <a:t>5th</a:t>
            </a:r>
            <a:r>
              <a:rPr lang="en-US" sz="1200" b="0" i="0" kern="1200" dirty="0" smtClean="0">
                <a:solidFill>
                  <a:schemeClr val="tx1"/>
                </a:solidFill>
                <a:effectLst/>
                <a:latin typeface="+mn-lt"/>
                <a:ea typeface="+mn-ea"/>
                <a:cs typeface="+mn-cs"/>
              </a:rPr>
              <a:t>— Aging Mechanism. Standard orders start with a priority score of 2.0. Every 5 simulation seconds, this score decreases by 0.30. Express orders start at 1.0 and decrease by 0.10. Lower score means higher priority in the sorted queue. So a Standard order waiting long enough will eventually overtake a fresh Express order. This guarantees no order is permanently delayed — which is called preventing starvation.</a:t>
            </a:r>
          </a:p>
          <a:p>
            <a:endParaRPr lang="en-IN" dirty="0"/>
          </a:p>
        </p:txBody>
      </p:sp>
      <p:sp>
        <p:nvSpPr>
          <p:cNvPr id="4" name="Slide Number Placeholder 3"/>
          <p:cNvSpPr>
            <a:spLocks noGrp="1"/>
          </p:cNvSpPr>
          <p:nvPr>
            <p:ph type="sldNum" sz="quarter" idx="10"/>
          </p:nvPr>
        </p:nvSpPr>
        <p:spPr/>
        <p:txBody>
          <a:bodyPr/>
          <a:lstStyle/>
          <a:p>
            <a:fld id="{BB9176E8-DBD2-4990-B962-92617A0EFBED}" type="slidenum">
              <a:rPr lang="en-IN" smtClean="0"/>
              <a:t>5</a:t>
            </a:fld>
            <a:endParaRPr lang="en-I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mn-ea"/>
                <a:cs typeface="+mn-cs"/>
              </a:rPr>
              <a:t>In the Auto mode screenshot — point at EV-1 — this EV has only 21% battery remaining. You can see it has automatically left its delivery route and is heading toward the nearest charger. Meanwhile EV-2 and EV-3 are actively delivering Standard orders — the green pins show their destinations.</a:t>
            </a:r>
            <a:r>
              <a:rPr lang="en-US" dirty="0" smtClean="0"/>
              <a:t/>
            </a:r>
            <a:br>
              <a:rPr lang="en-US" dirty="0" smtClean="0"/>
            </a:br>
            <a:endParaRPr lang="en-IN" dirty="0"/>
          </a:p>
        </p:txBody>
      </p:sp>
      <p:sp>
        <p:nvSpPr>
          <p:cNvPr id="4" name="Slide Number Placeholder 3"/>
          <p:cNvSpPr>
            <a:spLocks noGrp="1"/>
          </p:cNvSpPr>
          <p:nvPr>
            <p:ph type="sldNum" sz="quarter" idx="10"/>
          </p:nvPr>
        </p:nvSpPr>
        <p:spPr/>
        <p:txBody>
          <a:bodyPr/>
          <a:lstStyle/>
          <a:p>
            <a:fld id="{BB9176E8-DBD2-4990-B962-92617A0EFBED}" type="slidenum">
              <a:rPr lang="en-IN" smtClean="0"/>
              <a:t>6</a:t>
            </a:fld>
            <a:endParaRPr lang="en-I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dirty="0" smtClean="0"/>
              <a:t/>
            </a:r>
            <a:br>
              <a:rPr lang="en-US" dirty="0" smtClean="0"/>
            </a:br>
            <a:r>
              <a:rPr lang="en-US" sz="1200" b="0" i="0" kern="1200" dirty="0" smtClean="0">
                <a:solidFill>
                  <a:schemeClr val="tx1"/>
                </a:solidFill>
                <a:effectLst/>
                <a:latin typeface="+mn-lt"/>
                <a:ea typeface="+mn-ea"/>
                <a:cs typeface="+mn-cs"/>
              </a:rPr>
              <a:t>In the Manual mode screenshot — the system is paused at a moment where EV-1 is idle at the warehouse. I have selected Express delivery mode and clicked a house. The system immediately assigned the nearest available EV and it began loading. The bottom panel shows each EV's battery level, current phase, number of deliveries completed, and the orders currently loaded.</a:t>
            </a:r>
            <a:endParaRPr lang="en-IN" dirty="0" smtClean="0"/>
          </a:p>
          <a:p>
            <a:endParaRPr lang="en-IN" dirty="0"/>
          </a:p>
        </p:txBody>
      </p:sp>
      <p:sp>
        <p:nvSpPr>
          <p:cNvPr id="4" name="Slide Number Placeholder 3"/>
          <p:cNvSpPr>
            <a:spLocks noGrp="1"/>
          </p:cNvSpPr>
          <p:nvPr>
            <p:ph type="sldNum" sz="quarter" idx="10"/>
          </p:nvPr>
        </p:nvSpPr>
        <p:spPr/>
        <p:txBody>
          <a:bodyPr/>
          <a:lstStyle/>
          <a:p>
            <a:fld id="{BB9176E8-DBD2-4990-B962-92617A0EFBED}" type="slidenum">
              <a:rPr lang="en-IN" smtClean="0"/>
              <a:t>7</a:t>
            </a:fld>
            <a:endParaRPr lang="en-I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GB" dirty="0"/>
              <a:t>The system is able to complete deliveries efficiently using multiple EVs working together.</a:t>
            </a:r>
          </a:p>
          <a:p>
            <a:r>
              <a:rPr lang="en-US" altLang="en-GB" dirty="0">
                <a:sym typeface="+mn-ea"/>
              </a:rPr>
              <a:t>The priority system with aging ensures fair scheduling and avoids delays.</a:t>
            </a:r>
            <a:endParaRPr lang="en-US" altLang="en-GB" dirty="0"/>
          </a:p>
          <a:p>
            <a:r>
              <a:rPr lang="en-US" altLang="en-GB" dirty="0">
                <a:sym typeface="+mn-ea"/>
              </a:rPr>
              <a:t>Batching improves efficiency by re</a:t>
            </a:r>
            <a:r>
              <a:rPr lang="en-IN" altLang="en-US" dirty="0">
                <a:sym typeface="+mn-ea"/>
              </a:rPr>
              <a:t>c</a:t>
            </a:r>
            <a:r>
              <a:rPr lang="en-US" altLang="en-GB" dirty="0">
                <a:sym typeface="+mn-ea"/>
              </a:rPr>
              <a:t>ucing </a:t>
            </a:r>
            <a:r>
              <a:rPr lang="en-IN" altLang="en-US" dirty="0">
                <a:sym typeface="+mn-ea"/>
              </a:rPr>
              <a:t>t</a:t>
            </a:r>
            <a:r>
              <a:rPr lang="en-US" altLang="en-GB" dirty="0">
                <a:sym typeface="+mn-ea"/>
              </a:rPr>
              <a:t>ravel distance.</a:t>
            </a:r>
            <a:endParaRPr lang="en-US" altLang="en-GB" dirty="0"/>
          </a:p>
          <a:p>
            <a:r>
              <a:rPr lang="en-US" altLang="en-GB" dirty="0"/>
              <a:t>Battery handling is automatic — EVs go to charging stations when battery is low and then continue delivery.</a:t>
            </a:r>
          </a:p>
          <a:p>
            <a:r>
              <a:rPr lang="en-US" altLang="en-GB" dirty="0"/>
              <a:t>A-star ensures optimal routing by always finding the shortest path on the grid.</a:t>
            </a:r>
          </a:p>
          <a:p>
            <a:r>
              <a:rPr lang="en-US" altLang="en-GB" dirty="0"/>
              <a:t>So overall, the system perform</a:t>
            </a:r>
            <a:r>
              <a:rPr lang="en-IN" altLang="en-US" dirty="0"/>
              <a:t>s</a:t>
            </a:r>
            <a:r>
              <a:rPr lang="en-US" altLang="en-GB" dirty="0"/>
              <a:t> efficiently and adapts well to real-time conditions</a:t>
            </a:r>
          </a:p>
        </p:txBody>
      </p:sp>
      <p:sp>
        <p:nvSpPr>
          <p:cNvPr id="4" name="Slide Number Placeholder 3"/>
          <p:cNvSpPr>
            <a:spLocks noGrp="1"/>
          </p:cNvSpPr>
          <p:nvPr>
            <p:ph type="sldNum" sz="quarter" idx="10"/>
          </p:nvPr>
        </p:nvSpPr>
        <p:spPr/>
        <p:txBody>
          <a:bodyPr/>
          <a:lstStyle/>
          <a:p>
            <a:fld id="{BB9176E8-DBD2-4990-B962-92617A0EFBED}" type="slidenum">
              <a:rPr lang="en-IN" smtClean="0"/>
              <a:t>8</a:t>
            </a:fld>
            <a:endParaRPr lang="en-I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GB" dirty="0"/>
              <a:t>“In conclusion, this project shows a fully autonomous multi-EV delivery system.</a:t>
            </a:r>
          </a:p>
          <a:p>
            <a:r>
              <a:rPr lang="en-US" altLang="en-GB" dirty="0"/>
              <a:t>Three EVs can independently handle delivery tasks without human intervention.</a:t>
            </a:r>
          </a:p>
          <a:p>
            <a:r>
              <a:rPr lang="en-US" altLang="en-GB" dirty="0"/>
              <a:t>A-star is used for optimal pathfinding, and battery management is handled automatically.</a:t>
            </a:r>
          </a:p>
          <a:p>
            <a:r>
              <a:rPr lang="en-US" altLang="en-GB" dirty="0">
                <a:sym typeface="+mn-ea"/>
              </a:rPr>
              <a:t>Also, the system handles dynamic situations like high-priority orders and rerouting effectively.</a:t>
            </a:r>
            <a:endParaRPr lang="en-US" altLang="en-GB" dirty="0"/>
          </a:p>
          <a:p>
            <a:r>
              <a:rPr lang="en-US" altLang="en-GB" dirty="0"/>
              <a:t>Finally, both Auto and Manual modes make the system flexible for testing and control.</a:t>
            </a:r>
          </a:p>
          <a:p>
            <a:r>
              <a:rPr lang="en-US" altLang="en-GB" dirty="0"/>
              <a:t>Overall, this project proves that intelligent routing, battery management, and priority handling can be combined into one system.</a:t>
            </a:r>
          </a:p>
        </p:txBody>
      </p:sp>
      <p:sp>
        <p:nvSpPr>
          <p:cNvPr id="4" name="Slide Number Placeholder 3"/>
          <p:cNvSpPr>
            <a:spLocks noGrp="1"/>
          </p:cNvSpPr>
          <p:nvPr>
            <p:ph type="sldNum" sz="quarter" idx="10"/>
          </p:nvPr>
        </p:nvSpPr>
        <p:spPr/>
        <p:txBody>
          <a:bodyPr/>
          <a:lstStyle/>
          <a:p>
            <a:fld id="{BB9176E8-DBD2-4990-B962-92617A0EFBED}" type="slidenum">
              <a:rPr lang="en-IN" smtClean="0"/>
              <a:t>9</a:t>
            </a:fld>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3">
        <a:schemeClr val="bg1"/>
      </p:bgRef>
    </p:bg>
    <p:spTree>
      <p:nvGrpSpPr>
        <p:cNvPr id="1" name=""/>
        <p:cNvGrpSpPr/>
        <p:nvPr/>
      </p:nvGrpSpPr>
      <p:grpSpPr>
        <a:xfrm>
          <a:off x="0" y="0"/>
          <a:ext cx="0" cy="0"/>
          <a:chOff x="0" y="0"/>
          <a:chExt cx="0" cy="0"/>
        </a:xfrm>
      </p:grpSpPr>
      <p:sp>
        <p:nvSpPr>
          <p:cNvPr id="12" name="Rectangle 11"/>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3" name="Rounded Rectangle 12"/>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9" name="Subtitle 8"/>
          <p:cNvSpPr>
            <a:spLocks noGrp="1"/>
          </p:cNvSpPr>
          <p:nvPr>
            <p:ph type="subTitle" idx="1"/>
          </p:nvPr>
        </p:nvSpPr>
        <p:spPr>
          <a:xfrm>
            <a:off x="1295400" y="3200400"/>
            <a:ext cx="6400800" cy="1600200"/>
          </a:xfrm>
        </p:spPr>
        <p:txBody>
          <a:bodyPr/>
          <a:lstStyle>
            <a:lvl1pPr marL="0" indent="0" algn="ctr">
              <a:buNone/>
              <a:defRPr sz="26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p:txBody>
          <a:bodyPr/>
          <a:lstStyle/>
          <a:p>
            <a:endParaRPr lang="en-IN"/>
          </a:p>
        </p:txBody>
      </p:sp>
      <p:sp>
        <p:nvSpPr>
          <p:cNvPr id="17" name="Footer Placeholder 16"/>
          <p:cNvSpPr>
            <a:spLocks noGrp="1"/>
          </p:cNvSpPr>
          <p:nvPr>
            <p:ph type="ftr" sz="quarter" idx="11"/>
          </p:nvPr>
        </p:nvSpPr>
        <p:spPr/>
        <p:txBody>
          <a:bodyPr/>
          <a:lstStyle/>
          <a:p>
            <a:endParaRPr lang="en-IN"/>
          </a:p>
        </p:txBody>
      </p:sp>
      <p:sp>
        <p:nvSpPr>
          <p:cNvPr id="29" name="Slide Number Placeholder 28"/>
          <p:cNvSpPr>
            <a:spLocks noGrp="1"/>
          </p:cNvSpPr>
          <p:nvPr>
            <p:ph type="sldNum" sz="quarter" idx="12"/>
          </p:nvPr>
        </p:nvSpPr>
        <p:spPr/>
        <p:txBody>
          <a:bodyPr lIns="0" tIns="0" rIns="0" bIns="0">
            <a:noAutofit/>
          </a:bodyPr>
          <a:lstStyle>
            <a:lvl1pPr>
              <a:defRPr sz="1400">
                <a:solidFill>
                  <a:srgbClr val="FFFFFF"/>
                </a:solidFill>
              </a:defRPr>
            </a:lvl1pPr>
          </a:lstStyle>
          <a:p>
            <a:fld id="{B48D66A2-BFCA-4667-A1CB-989A033A1578}" type="slidenum">
              <a:rPr lang="en-IN" smtClean="0"/>
              <a:t>‹#›</a:t>
            </a:fld>
            <a:endParaRPr lang="en-IN"/>
          </a:p>
        </p:txBody>
      </p:sp>
      <p:sp>
        <p:nvSpPr>
          <p:cNvPr id="7" name="Rectangle 6"/>
          <p:cNvSpPr/>
          <p:nvPr/>
        </p:nvSpPr>
        <p:spPr>
          <a:xfrm>
            <a:off x="62931" y="1449303"/>
            <a:ext cx="9021537" cy="1527349"/>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62931" y="1396720"/>
            <a:ext cx="9021537" cy="12058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62931" y="2976649"/>
            <a:ext cx="9021537" cy="110532"/>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457200" y="1505930"/>
            <a:ext cx="8229600" cy="1470025"/>
          </a:xfrm>
        </p:spPr>
        <p:txBody>
          <a:bodyPr anchor="ctr"/>
          <a:lstStyle>
            <a:lvl1pPr algn="ctr">
              <a:defRPr lang="en-US" dirty="0">
                <a:solidFill>
                  <a:srgbClr val="FFFFFF"/>
                </a:solidFill>
              </a:defRPr>
            </a:lvl1pPr>
          </a:lstStyle>
          <a:p>
            <a:r>
              <a:rPr kumimoji="0" lang="en-US" smtClean="0"/>
              <a:t>Click to edit Master title style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48D66A2-BFCA-4667-A1CB-989A033A1578}" type="slidenum">
              <a:rPr lang="en-IN" smtClean="0"/>
              <a:t>‹#›</a:t>
            </a:fld>
            <a:endParaRPr lang="en-IN"/>
          </a:p>
        </p:txBody>
      </p:sp>
      <p:sp>
        <p:nvSpPr>
          <p:cNvPr id="8" name="Content Placeholder 7"/>
          <p:cNvSpPr>
            <a:spLocks noGrp="1"/>
          </p:cNvSpPr>
          <p:nvPr>
            <p:ph sz="quarter" idx="1"/>
          </p:nvPr>
        </p:nvSpPr>
        <p:spPr>
          <a:xfrm>
            <a:off x="914400" y="1447800"/>
            <a:ext cx="7772400" cy="45720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11" name="Rectangle 10"/>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0" name="Rounded Rectangle 9"/>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3">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722313" y="952500"/>
            <a:ext cx="7772400" cy="1362075"/>
          </a:xfrm>
        </p:spPr>
        <p:txBody>
          <a:bodyPr anchor="b" anchorCtr="0"/>
          <a:lstStyle>
            <a:lvl1pPr algn="l">
              <a:buNone/>
              <a:defRPr sz="4000" b="0" cap="none"/>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722313" y="2547938"/>
            <a:ext cx="7772400" cy="1338262"/>
          </a:xfrm>
        </p:spPr>
        <p:txBody>
          <a:bodyPr anchor="t" anchorCtr="0"/>
          <a:lstStyle>
            <a:lvl1pPr marL="0" indent="0">
              <a:buNone/>
              <a:defRPr sz="24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a:xfrm>
            <a:off x="800100" y="6172200"/>
            <a:ext cx="4000500" cy="457200"/>
          </a:xfrm>
        </p:spPr>
        <p:txBody>
          <a:bodyPr/>
          <a:lstStyle/>
          <a:p>
            <a:endParaRPr lang="en-IN"/>
          </a:p>
        </p:txBody>
      </p:sp>
      <p:sp>
        <p:nvSpPr>
          <p:cNvPr id="7" name="Rectangle 6"/>
          <p:cNvSpPr/>
          <p:nvPr/>
        </p:nvSpPr>
        <p:spPr>
          <a:xfrm flipV="1">
            <a:off x="69412" y="2376830"/>
            <a:ext cx="9013515"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69146" y="2341475"/>
            <a:ext cx="9013781"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68306" y="2468880"/>
            <a:ext cx="9014621" cy="45720"/>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Slide Number Placeholder 5"/>
          <p:cNvSpPr>
            <a:spLocks noGrp="1"/>
          </p:cNvSpPr>
          <p:nvPr>
            <p:ph type="sldNum" sz="quarter" idx="12"/>
          </p:nvPr>
        </p:nvSpPr>
        <p:spPr>
          <a:xfrm>
            <a:off x="146304" y="6208776"/>
            <a:ext cx="457200" cy="457200"/>
          </a:xfrm>
        </p:spPr>
        <p:txBody>
          <a:bodyPr/>
          <a:lstStyle/>
          <a:p>
            <a:fld id="{B48D66A2-BFCA-4667-A1CB-989A033A1578}" type="slidenum">
              <a:rPr lang="en-IN" smtClean="0"/>
              <a:t>‹#›</a:t>
            </a:fld>
            <a:endParaRPr lang="en-IN"/>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p>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48D66A2-BFCA-4667-A1CB-989A033A1578}" type="slidenum">
              <a:rPr lang="en-IN" smtClean="0"/>
              <a:t>‹#›</a:t>
            </a:fld>
            <a:endParaRPr lang="en-IN"/>
          </a:p>
        </p:txBody>
      </p:sp>
      <p:sp>
        <p:nvSpPr>
          <p:cNvPr id="9" name="Content Placeholder 8"/>
          <p:cNvSpPr>
            <a:spLocks noGrp="1"/>
          </p:cNvSpPr>
          <p:nvPr>
            <p:ph sz="quarter" idx="1"/>
          </p:nvPr>
        </p:nvSpPr>
        <p:spPr>
          <a:xfrm>
            <a:off x="914400" y="1447800"/>
            <a:ext cx="3749040" cy="45720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1" name="Content Placeholder 10"/>
          <p:cNvSpPr>
            <a:spLocks noGrp="1"/>
          </p:cNvSpPr>
          <p:nvPr>
            <p:ph sz="quarter" idx="2"/>
          </p:nvPr>
        </p:nvSpPr>
        <p:spPr>
          <a:xfrm>
            <a:off x="4933950" y="1447800"/>
            <a:ext cx="3749040" cy="45720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4400" y="273050"/>
            <a:ext cx="7772400" cy="1143000"/>
          </a:xfrm>
        </p:spPr>
        <p:txBody>
          <a:bodyPr anchor="b" anchorCtr="0"/>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9144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9530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7" name="Date Placeholder 6"/>
          <p:cNvSpPr>
            <a:spLocks noGrp="1"/>
          </p:cNvSpPr>
          <p:nvPr>
            <p:ph type="dt" sz="half" idx="10"/>
          </p:nvPr>
        </p:nvSpPr>
        <p:spPr/>
        <p:txBody>
          <a:bodyPr/>
          <a:lstStyle/>
          <a:p>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B48D66A2-BFCA-4667-A1CB-989A033A1578}" type="slidenum">
              <a:rPr lang="en-IN" smtClean="0"/>
              <a:t>‹#›</a:t>
            </a:fld>
            <a:endParaRPr lang="en-IN"/>
          </a:p>
        </p:txBody>
      </p:sp>
      <p:sp>
        <p:nvSpPr>
          <p:cNvPr id="11" name="Content Placeholder 10"/>
          <p:cNvSpPr>
            <a:spLocks noGrp="1"/>
          </p:cNvSpPr>
          <p:nvPr>
            <p:ph sz="half" idx="2"/>
          </p:nvPr>
        </p:nvSpPr>
        <p:spPr>
          <a:xfrm>
            <a:off x="914400" y="2247900"/>
            <a:ext cx="3733800" cy="38862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3" name="Content Placeholder 12"/>
          <p:cNvSpPr>
            <a:spLocks noGrp="1"/>
          </p:cNvSpPr>
          <p:nvPr>
            <p:ph sz="half" idx="4"/>
          </p:nvPr>
        </p:nvSpPr>
        <p:spPr>
          <a:xfrm>
            <a:off x="4953000" y="2247900"/>
            <a:ext cx="3733800" cy="38862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B48D66A2-BFCA-4667-A1CB-989A033A1578}" type="slidenum">
              <a:rPr lang="en-IN" smtClean="0"/>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B48D66A2-BFCA-4667-A1CB-989A033A1578}" type="slidenum">
              <a:rPr lang="en-IN" smtClean="0"/>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0" y="0"/>
            <a:ext cx="9144000" cy="6858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9" name="Rounded Rectangle 8"/>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914400" y="273050"/>
            <a:ext cx="7772400" cy="1143000"/>
          </a:xfrm>
        </p:spPr>
        <p:txBody>
          <a:bodyPr anchor="b" anchorCtr="0"/>
          <a:lstStyle>
            <a:lvl1pPr algn="l">
              <a:buNone/>
              <a:defRPr sz="4000" b="0"/>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914400" y="1600200"/>
            <a:ext cx="1905000" cy="4495800"/>
          </a:xfrm>
        </p:spPr>
        <p:txBody>
          <a:bodyPr/>
          <a:lstStyle>
            <a:lvl1pPr marL="0" indent="0">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48D66A2-BFCA-4667-A1CB-989A033A1578}" type="slidenum">
              <a:rPr lang="en-IN" smtClean="0"/>
              <a:t>‹#›</a:t>
            </a:fld>
            <a:endParaRPr lang="en-IN"/>
          </a:p>
        </p:txBody>
      </p:sp>
      <p:sp>
        <p:nvSpPr>
          <p:cNvPr id="11" name="Content Placeholder 10"/>
          <p:cNvSpPr>
            <a:spLocks noGrp="1"/>
          </p:cNvSpPr>
          <p:nvPr>
            <p:ph sz="quarter" idx="1"/>
          </p:nvPr>
        </p:nvSpPr>
        <p:spPr>
          <a:xfrm>
            <a:off x="2971800" y="1600200"/>
            <a:ext cx="5715000" cy="44958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0" y="4900550"/>
            <a:ext cx="7315200" cy="522288"/>
          </a:xfrm>
        </p:spPr>
        <p:txBody>
          <a:bodyPr anchor="ctr">
            <a:noAutofit/>
          </a:bodyPr>
          <a:lstStyle>
            <a:lvl1pPr algn="l">
              <a:buNone/>
              <a:defRPr sz="2800" b="0"/>
            </a:lvl1pPr>
          </a:lstStyle>
          <a:p>
            <a:r>
              <a:rPr kumimoji="0" lang="en-US" smtClean="0"/>
              <a:t>Click to edit Master title style</a:t>
            </a:r>
            <a:endParaRPr kumimoji="0" lang="en-US"/>
          </a:p>
        </p:txBody>
      </p:sp>
      <p:sp>
        <p:nvSpPr>
          <p:cNvPr id="4" name="Text Placeholder 3"/>
          <p:cNvSpPr>
            <a:spLocks noGrp="1"/>
          </p:cNvSpPr>
          <p:nvPr>
            <p:ph type="body" sz="half" idx="2"/>
          </p:nvPr>
        </p:nvSpPr>
        <p:spPr>
          <a:xfrm>
            <a:off x="914400" y="5445825"/>
            <a:ext cx="7315200" cy="685800"/>
          </a:xfrm>
        </p:spPr>
        <p:txBody>
          <a:bodyPr/>
          <a:lstStyle>
            <a:lvl1pPr marL="0" indent="0">
              <a:buFontTx/>
              <a:buNone/>
              <a:defRPr sz="16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endParaRPr lang="en-IN"/>
          </a:p>
        </p:txBody>
      </p:sp>
      <p:sp>
        <p:nvSpPr>
          <p:cNvPr id="6" name="Footer Placeholder 5"/>
          <p:cNvSpPr>
            <a:spLocks noGrp="1"/>
          </p:cNvSpPr>
          <p:nvPr>
            <p:ph type="ftr" sz="quarter" idx="11"/>
          </p:nvPr>
        </p:nvSpPr>
        <p:spPr>
          <a:xfrm>
            <a:off x="914400" y="6172200"/>
            <a:ext cx="3886200" cy="457200"/>
          </a:xfrm>
        </p:spPr>
        <p:txBody>
          <a:bodyPr/>
          <a:lstStyle/>
          <a:p>
            <a:endParaRPr lang="en-IN"/>
          </a:p>
        </p:txBody>
      </p:sp>
      <p:sp>
        <p:nvSpPr>
          <p:cNvPr id="7" name="Slide Number Placeholder 6"/>
          <p:cNvSpPr>
            <a:spLocks noGrp="1"/>
          </p:cNvSpPr>
          <p:nvPr>
            <p:ph type="sldNum" sz="quarter" idx="12"/>
          </p:nvPr>
        </p:nvSpPr>
        <p:spPr>
          <a:xfrm>
            <a:off x="146304" y="6208776"/>
            <a:ext cx="457200" cy="457200"/>
          </a:xfrm>
        </p:spPr>
        <p:txBody>
          <a:bodyPr/>
          <a:lstStyle/>
          <a:p>
            <a:fld id="{B48D66A2-BFCA-4667-A1CB-989A033A1578}" type="slidenum">
              <a:rPr lang="en-IN" smtClean="0"/>
              <a:t>‹#›</a:t>
            </a:fld>
            <a:endParaRPr lang="en-IN"/>
          </a:p>
        </p:txBody>
      </p:sp>
      <p:sp>
        <p:nvSpPr>
          <p:cNvPr id="11" name="Rectangle 10"/>
          <p:cNvSpPr/>
          <p:nvPr/>
        </p:nvSpPr>
        <p:spPr>
          <a:xfrm flipV="1">
            <a:off x="68307" y="4683555"/>
            <a:ext cx="9006840"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a:xfrm>
            <a:off x="68508" y="4650474"/>
            <a:ext cx="9006639"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Rectangle 12"/>
          <p:cNvSpPr/>
          <p:nvPr/>
        </p:nvSpPr>
        <p:spPr>
          <a:xfrm>
            <a:off x="68510" y="4773224"/>
            <a:ext cx="9006637" cy="48807"/>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 name="Picture Placeholder 2"/>
          <p:cNvSpPr>
            <a:spLocks noGrp="1"/>
          </p:cNvSpPr>
          <p:nvPr>
            <p:ph type="pic" idx="1"/>
          </p:nvPr>
        </p:nvSpPr>
        <p:spPr>
          <a:xfrm>
            <a:off x="68308" y="66675"/>
            <a:ext cx="9001873" cy="4581525"/>
          </a:xfrm>
          <a:prstGeom prst="round2SameRect">
            <a:avLst>
              <a:gd name="adj1" fmla="val 7101"/>
              <a:gd name="adj2" fmla="val 0"/>
            </a:avLst>
          </a:prstGeom>
          <a:solidFill>
            <a:schemeClr val="bg2"/>
          </a:solidFill>
          <a:ln w="6350">
            <a:solidFill>
              <a:schemeClr val="tx1"/>
            </a:solidFill>
          </a:ln>
        </p:spPr>
        <p:txBody>
          <a:bodyPr/>
          <a:lstStyle>
            <a:lvl1pPr marL="0" indent="0">
              <a:buNone/>
              <a:defRPr sz="3200"/>
            </a:lvl1pPr>
          </a:lstStyle>
          <a:p>
            <a:r>
              <a:rPr kumimoji="0" lang="en-US" smtClean="0"/>
              <a:t>Click icon to add picture</a:t>
            </a:r>
            <a:endParaRPr kumimoji="0"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48D66A2-BFCA-4667-A1CB-989A033A1578}" type="slidenum">
              <a:rPr lang="en-IN" smtClean="0"/>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1"/>
            <a:ext cx="201168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914400" y="274640"/>
            <a:ext cx="55626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48D66A2-BFCA-4667-A1CB-989A033A1578}" type="slidenum">
              <a:rPr lang="en-IN" smtClean="0"/>
              <a:t>‹#›</a:t>
            </a:fld>
            <a:endParaRPr lang="en-I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8" name="Rounded Rectangle 7"/>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2" name="Title Placeholder 21"/>
          <p:cNvSpPr>
            <a:spLocks noGrp="1"/>
          </p:cNvSpPr>
          <p:nvPr>
            <p:ph type="title"/>
          </p:nvPr>
        </p:nvSpPr>
        <p:spPr>
          <a:xfrm>
            <a:off x="914400" y="274638"/>
            <a:ext cx="7772400" cy="1143000"/>
          </a:xfrm>
          <a:prstGeom prst="rect">
            <a:avLst/>
          </a:prstGeom>
        </p:spPr>
        <p:txBody>
          <a:bodyPr bIns="91440" anchor="b" anchorCtr="0">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914400" y="1447800"/>
            <a:ext cx="7772400" cy="4572000"/>
          </a:xfrm>
          <a:prstGeom prst="rect">
            <a:avLst/>
          </a:prstGeom>
        </p:spPr>
        <p:txBody>
          <a:bodyPr>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a:off x="6172200" y="6191250"/>
            <a:ext cx="2476500" cy="476250"/>
          </a:xfrm>
          <a:prstGeom prst="rect">
            <a:avLst/>
          </a:prstGeom>
        </p:spPr>
        <p:txBody>
          <a:bodyPr anchor="ctr" anchorCtr="0"/>
          <a:lstStyle>
            <a:lvl1pPr algn="r" eaLnBrk="1" latinLnBrk="0" hangingPunct="1">
              <a:defRPr kumimoji="0" sz="1400">
                <a:solidFill>
                  <a:schemeClr val="tx2"/>
                </a:solidFill>
              </a:defRPr>
            </a:lvl1pPr>
          </a:lstStyle>
          <a:p>
            <a:endParaRPr lang="en-IN"/>
          </a:p>
        </p:txBody>
      </p:sp>
      <p:sp>
        <p:nvSpPr>
          <p:cNvPr id="3" name="Footer Placeholder 2"/>
          <p:cNvSpPr>
            <a:spLocks noGrp="1"/>
          </p:cNvSpPr>
          <p:nvPr>
            <p:ph type="ftr" sz="quarter" idx="3"/>
          </p:nvPr>
        </p:nvSpPr>
        <p:spPr>
          <a:xfrm>
            <a:off x="914400" y="6172200"/>
            <a:ext cx="3962400" cy="457200"/>
          </a:xfrm>
          <a:prstGeom prst="rect">
            <a:avLst/>
          </a:prstGeom>
        </p:spPr>
        <p:txBody>
          <a:bodyPr anchor="ctr" anchorCtr="0"/>
          <a:lstStyle>
            <a:lvl1pPr eaLnBrk="1" latinLnBrk="0" hangingPunct="1">
              <a:defRPr kumimoji="0" sz="1400">
                <a:solidFill>
                  <a:schemeClr val="tx2"/>
                </a:solidFill>
              </a:defRPr>
            </a:lvl1pPr>
          </a:lstStyle>
          <a:p>
            <a:endParaRPr lang="en-IN"/>
          </a:p>
        </p:txBody>
      </p:sp>
      <p:sp>
        <p:nvSpPr>
          <p:cNvPr id="23" name="Slide Number Placeholder 22"/>
          <p:cNvSpPr>
            <a:spLocks noGrp="1"/>
          </p:cNvSpPr>
          <p:nvPr>
            <p:ph type="sldNum" sz="quarter" idx="4"/>
          </p:nvPr>
        </p:nvSpPr>
        <p:spPr>
          <a:xfrm>
            <a:off x="146304" y="6210300"/>
            <a:ext cx="457200" cy="457200"/>
          </a:xfrm>
          <a:prstGeom prst="ellipse">
            <a:avLst/>
          </a:prstGeom>
          <a:solidFill>
            <a:schemeClr val="accent1"/>
          </a:solidFill>
        </p:spPr>
        <p:txBody>
          <a:bodyPr wrap="none" lIns="0" tIns="0" rIns="0" bIns="0" anchor="ctr" anchorCtr="1">
            <a:noAutofit/>
          </a:bodyPr>
          <a:lstStyle>
            <a:lvl1pPr algn="ctr" eaLnBrk="1" latinLnBrk="0" hangingPunct="1">
              <a:defRPr kumimoji="0" sz="1400">
                <a:solidFill>
                  <a:srgbClr val="FFFFFF"/>
                </a:solidFill>
                <a:latin typeface="+mj-lt"/>
                <a:ea typeface="+mj-ea"/>
                <a:cs typeface="+mj-cs"/>
              </a:defRPr>
            </a:lvl1pPr>
          </a:lstStyle>
          <a:p>
            <a:fld id="{B48D66A2-BFCA-4667-A1CB-989A033A1578}" type="slidenum">
              <a:rPr lang="en-IN" smtClean="0"/>
              <a:t>‹#›</a:t>
            </a:fld>
            <a:endParaRPr lang="en-IN"/>
          </a:p>
        </p:txBody>
      </p:sp>
    </p:spTree>
  </p:cSld>
  <p:clrMap bg1="lt1" tx1="dk1" bg2="lt2" tx2="dk2" accent1="accent1" accent2="accent2" accent3="accent3" accent4="accent4" accent5="accent5" accent6="accent6" hlink="hlink" folHlink="folHlink"/>
  <p:sldLayoutIdLst>
    <p:sldLayoutId id="2147483727" r:id="rId1"/>
    <p:sldLayoutId id="2147483728" r:id="rId2"/>
    <p:sldLayoutId id="2147483729" r:id="rId3"/>
    <p:sldLayoutId id="2147483730" r:id="rId4"/>
    <p:sldLayoutId id="2147483731" r:id="rId5"/>
    <p:sldLayoutId id="2147483732" r:id="rId6"/>
    <p:sldLayoutId id="2147483733" r:id="rId7"/>
    <p:sldLayoutId id="2147483734" r:id="rId8"/>
    <p:sldLayoutId id="2147483735" r:id="rId9"/>
    <p:sldLayoutId id="2147483736" r:id="rId10"/>
    <p:sldLayoutId id="2147483737" r:id="rId11"/>
    <p:sldLayoutId id="2147483738" r:id="rId12"/>
  </p:sldLayoutIdLst>
  <p:hf hdr="0" ftr="0" dt="0"/>
  <p:txStyles>
    <p:titleStyle>
      <a:lvl1pPr algn="l" rtl="0" eaLnBrk="1" latinLnBrk="0" hangingPunct="1">
        <a:spcBef>
          <a:spcPct val="0"/>
        </a:spcBef>
        <a:buNone/>
        <a:defRPr kumimoji="0" sz="4000" kern="1200">
          <a:solidFill>
            <a:schemeClr val="tx2"/>
          </a:solidFill>
          <a:latin typeface="+mj-lt"/>
          <a:ea typeface="+mj-ea"/>
          <a:cs typeface="+mj-cs"/>
        </a:defRPr>
      </a:lvl1pPr>
    </p:titleStyle>
    <p:bodyStyle>
      <a:lvl1pPr marL="274320" indent="-274320" algn="l" rtl="0" eaLnBrk="1" latinLnBrk="0" hangingPunct="1">
        <a:spcBef>
          <a:spcPts val="580"/>
        </a:spcBef>
        <a:buClr>
          <a:schemeClr val="accent1"/>
        </a:buClr>
        <a:buSzPct val="85000"/>
        <a:buFont typeface="Wingdings 2"/>
        <a:buChar char=""/>
        <a:defRPr kumimoji="0" sz="2600" kern="1200">
          <a:solidFill>
            <a:schemeClr val="tx1"/>
          </a:solidFill>
          <a:latin typeface="+mn-lt"/>
          <a:ea typeface="+mn-ea"/>
          <a:cs typeface="+mn-cs"/>
        </a:defRPr>
      </a:lvl1pPr>
      <a:lvl2pPr marL="548640" indent="-228600" algn="l" rtl="0" eaLnBrk="1" latinLnBrk="0" hangingPunct="1">
        <a:spcBef>
          <a:spcPts val="370"/>
        </a:spcBef>
        <a:buClr>
          <a:schemeClr val="accent2"/>
        </a:buClr>
        <a:buSzPct val="85000"/>
        <a:buFont typeface="Wingdings 2"/>
        <a:buChar char=""/>
        <a:defRPr kumimoji="0" sz="2400"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buClr>
        <a:buFontTx/>
        <a:buChar char="o"/>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2"/>
          <p:cNvSpPr/>
          <p:nvPr/>
        </p:nvSpPr>
        <p:spPr>
          <a:xfrm flipV="1">
            <a:off x="5143500" y="8181528"/>
            <a:ext cx="796652" cy="648072"/>
          </a:xfrm>
          <a:prstGeom prst="rect">
            <a:avLst/>
          </a:prstGeom>
          <a:noFill/>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endParaRPr lang="en-US" sz="3600" dirty="0"/>
          </a:p>
        </p:txBody>
      </p:sp>
      <p:sp>
        <p:nvSpPr>
          <p:cNvPr id="9" name="TextBox 8"/>
          <p:cNvSpPr txBox="1"/>
          <p:nvPr/>
        </p:nvSpPr>
        <p:spPr>
          <a:xfrm>
            <a:off x="539552" y="1988840"/>
            <a:ext cx="8054168" cy="1200329"/>
          </a:xfrm>
          <a:prstGeom prst="rect">
            <a:avLst/>
          </a:prstGeom>
          <a:noFill/>
        </p:spPr>
        <p:txBody>
          <a:bodyPr wrap="square" rtlCol="0">
            <a:spAutoFit/>
          </a:bodyPr>
          <a:lstStyle/>
          <a:p>
            <a:r>
              <a:rPr lang="en-IN" sz="4400" b="1" dirty="0" smtClean="0"/>
              <a:t>Smart EV Delivery System</a:t>
            </a:r>
          </a:p>
          <a:p>
            <a:r>
              <a:rPr lang="en-IN" sz="2800" i="1" dirty="0" smtClean="0"/>
              <a:t>Using A* with Battery Constraint</a:t>
            </a:r>
            <a:endParaRPr lang="en-IN" sz="2800" i="1" dirty="0"/>
          </a:p>
        </p:txBody>
      </p:sp>
      <p:sp>
        <p:nvSpPr>
          <p:cNvPr id="10" name="Text 5"/>
          <p:cNvSpPr/>
          <p:nvPr/>
        </p:nvSpPr>
        <p:spPr>
          <a:xfrm>
            <a:off x="587851" y="4164323"/>
            <a:ext cx="8229600" cy="706000"/>
          </a:xfrm>
          <a:prstGeom prst="rect">
            <a:avLst/>
          </a:prstGeom>
          <a:noFill/>
        </p:spPr>
        <p:txBody>
          <a:bodyPr wrap="square" rtlCol="0" anchor="ctr"/>
          <a:lstStyle/>
          <a:p>
            <a:pPr marL="0" indent="0">
              <a:buNone/>
            </a:pPr>
            <a:r>
              <a:rPr lang="en-US" sz="2400" b="1" dirty="0">
                <a:solidFill>
                  <a:schemeClr val="tx1">
                    <a:lumMod val="85000"/>
                    <a:lumOff val="15000"/>
                  </a:schemeClr>
                </a:solidFill>
                <a:latin typeface="Calibri" panose="020F0502020204030204" pitchFamily="34" charset="0"/>
                <a:ea typeface="Calibri" panose="020F0502020204030204" pitchFamily="34" charset="-122"/>
                <a:cs typeface="Calibri" panose="020F0502020204030204" pitchFamily="34" charset="-120"/>
              </a:rPr>
              <a:t>Munaga Asritha</a:t>
            </a:r>
            <a:endParaRPr lang="en-US" sz="2400" dirty="0">
              <a:solidFill>
                <a:schemeClr val="tx1">
                  <a:lumMod val="85000"/>
                  <a:lumOff val="15000"/>
                </a:schemeClr>
              </a:solidFill>
            </a:endParaRPr>
          </a:p>
        </p:txBody>
      </p:sp>
      <p:sp>
        <p:nvSpPr>
          <p:cNvPr id="11" name="Text 6"/>
          <p:cNvSpPr/>
          <p:nvPr/>
        </p:nvSpPr>
        <p:spPr>
          <a:xfrm>
            <a:off x="590488" y="4736584"/>
            <a:ext cx="8003232" cy="1041256"/>
          </a:xfrm>
          <a:prstGeom prst="rect">
            <a:avLst/>
          </a:prstGeom>
          <a:noFill/>
        </p:spPr>
        <p:txBody>
          <a:bodyPr wrap="square" rtlCol="0" anchor="ctr"/>
          <a:lstStyle/>
          <a:p>
            <a:pPr marL="0" indent="0">
              <a:buNone/>
            </a:pPr>
            <a:r>
              <a:rPr lang="en-US" sz="1600" dirty="0">
                <a:solidFill>
                  <a:schemeClr val="tx1">
                    <a:lumMod val="75000"/>
                    <a:lumOff val="25000"/>
                  </a:schemeClr>
                </a:solidFill>
                <a:latin typeface="Calibri" panose="020F0502020204030204" pitchFamily="34" charset="0"/>
                <a:ea typeface="Calibri" panose="020F0502020204030204" pitchFamily="34" charset="-122"/>
                <a:cs typeface="Calibri" panose="020F0502020204030204" pitchFamily="34" charset="-120"/>
              </a:rPr>
              <a:t>Reg. No. 128179033  |  B.Tech Robotics &amp; </a:t>
            </a:r>
            <a:r>
              <a:rPr lang="en-US" sz="1600" dirty="0" smtClean="0">
                <a:solidFill>
                  <a:schemeClr val="tx1">
                    <a:lumMod val="75000"/>
                    <a:lumOff val="25000"/>
                  </a:schemeClr>
                </a:solidFill>
                <a:latin typeface="Calibri" panose="020F0502020204030204" pitchFamily="34" charset="0"/>
                <a:ea typeface="Calibri" panose="020F0502020204030204" pitchFamily="34" charset="-122"/>
                <a:cs typeface="Calibri" panose="020F0502020204030204" pitchFamily="34" charset="-120"/>
              </a:rPr>
              <a:t>AI</a:t>
            </a:r>
          </a:p>
          <a:p>
            <a:r>
              <a:rPr lang="en-US" sz="1200" dirty="0" smtClean="0">
                <a:solidFill>
                  <a:schemeClr val="tx1">
                    <a:lumMod val="75000"/>
                    <a:lumOff val="25000"/>
                  </a:schemeClr>
                </a:solidFill>
              </a:rPr>
              <a:t>Course: EIE115R01 – Introduction to Artificial Intelligence</a:t>
            </a:r>
          </a:p>
          <a:p>
            <a:r>
              <a:rPr lang="en-US" sz="1200" dirty="0">
                <a:solidFill>
                  <a:schemeClr val="tx1">
                    <a:lumMod val="75000"/>
                    <a:lumOff val="25000"/>
                  </a:schemeClr>
                </a:solidFill>
              </a:rPr>
              <a:t>Guided </a:t>
            </a:r>
            <a:r>
              <a:rPr lang="en-US" sz="1200" dirty="0" smtClean="0">
                <a:solidFill>
                  <a:schemeClr val="tx1">
                    <a:lumMod val="75000"/>
                    <a:lumOff val="25000"/>
                  </a:schemeClr>
                </a:solidFill>
              </a:rPr>
              <a:t>By: Dr. K. </a:t>
            </a:r>
            <a:r>
              <a:rPr lang="en-US" sz="1200" dirty="0" err="1">
                <a:solidFill>
                  <a:schemeClr val="tx1">
                    <a:lumMod val="75000"/>
                    <a:lumOff val="25000"/>
                  </a:schemeClr>
                </a:solidFill>
              </a:rPr>
              <a:t>Ghousiya</a:t>
            </a:r>
            <a:r>
              <a:rPr lang="en-US" sz="1200" dirty="0">
                <a:solidFill>
                  <a:schemeClr val="tx1">
                    <a:lumMod val="75000"/>
                    <a:lumOff val="25000"/>
                  </a:schemeClr>
                </a:solidFill>
              </a:rPr>
              <a:t> </a:t>
            </a:r>
            <a:r>
              <a:rPr lang="en-US" sz="1200" dirty="0" smtClean="0">
                <a:solidFill>
                  <a:schemeClr val="tx1">
                    <a:lumMod val="75000"/>
                    <a:lumOff val="25000"/>
                  </a:schemeClr>
                </a:solidFill>
              </a:rPr>
              <a:t>Begum, Assistant </a:t>
            </a:r>
            <a:r>
              <a:rPr lang="en-US" sz="1200" dirty="0">
                <a:solidFill>
                  <a:schemeClr val="tx1">
                    <a:lumMod val="75000"/>
                    <a:lumOff val="25000"/>
                  </a:schemeClr>
                </a:solidFill>
              </a:rPr>
              <a:t>Professor III</a:t>
            </a:r>
          </a:p>
          <a:p>
            <a:r>
              <a:rPr lang="en-US" sz="1200" dirty="0" smtClean="0">
                <a:solidFill>
                  <a:schemeClr val="tx1">
                    <a:lumMod val="75000"/>
                    <a:lumOff val="25000"/>
                  </a:schemeClr>
                </a:solidFill>
              </a:rPr>
              <a:t>	  (</a:t>
            </a:r>
            <a:r>
              <a:rPr lang="en-US" sz="1200" dirty="0">
                <a:solidFill>
                  <a:schemeClr val="tx1">
                    <a:lumMod val="75000"/>
                    <a:lumOff val="25000"/>
                  </a:schemeClr>
                </a:solidFill>
              </a:rPr>
              <a:t>School of Electrical </a:t>
            </a:r>
            <a:r>
              <a:rPr lang="en-US" sz="1200" dirty="0" smtClean="0">
                <a:solidFill>
                  <a:schemeClr val="tx1">
                    <a:lumMod val="75000"/>
                    <a:lumOff val="25000"/>
                  </a:schemeClr>
                </a:solidFill>
              </a:rPr>
              <a:t>and </a:t>
            </a:r>
            <a:r>
              <a:rPr lang="en-US" sz="1200" dirty="0">
                <a:solidFill>
                  <a:schemeClr val="tx1">
                    <a:lumMod val="75000"/>
                    <a:lumOff val="25000"/>
                  </a:schemeClr>
                </a:solidFill>
              </a:rPr>
              <a:t>Electronics </a:t>
            </a:r>
            <a:r>
              <a:rPr lang="en-US" sz="1200" dirty="0" smtClean="0">
                <a:solidFill>
                  <a:schemeClr val="tx1">
                    <a:lumMod val="75000"/>
                    <a:lumOff val="25000"/>
                  </a:schemeClr>
                </a:solidFill>
              </a:rPr>
              <a:t>Engineering</a:t>
            </a:r>
            <a:r>
              <a:rPr lang="en-US" sz="1400" dirty="0">
                <a:solidFill>
                  <a:schemeClr val="tx1">
                    <a:lumMod val="75000"/>
                    <a:lumOff val="25000"/>
                  </a:schemeClr>
                </a:solidFill>
              </a:rPr>
              <a:t>)</a:t>
            </a:r>
          </a:p>
          <a:p>
            <a:pPr marL="0" indent="0">
              <a:buNone/>
            </a:pPr>
            <a:endParaRPr lang="en-US" sz="1600" dirty="0">
              <a:solidFill>
                <a:schemeClr val="tx1">
                  <a:lumMod val="65000"/>
                  <a:lumOff val="35000"/>
                </a:schemeClr>
              </a:solidFill>
            </a:endParaRPr>
          </a:p>
        </p:txBody>
      </p:sp>
      <p:sp>
        <p:nvSpPr>
          <p:cNvPr id="12" name="Text 7"/>
          <p:cNvSpPr/>
          <p:nvPr/>
        </p:nvSpPr>
        <p:spPr>
          <a:xfrm>
            <a:off x="590488" y="4005064"/>
            <a:ext cx="8229600" cy="365760"/>
          </a:xfrm>
          <a:prstGeom prst="rect">
            <a:avLst/>
          </a:prstGeom>
          <a:noFill/>
        </p:spPr>
        <p:txBody>
          <a:bodyPr wrap="square" rtlCol="0" anchor="ctr"/>
          <a:lstStyle/>
          <a:p>
            <a:pPr marL="0" indent="0">
              <a:buNone/>
            </a:pPr>
            <a:endParaRPr lang="en-US" sz="1200" dirty="0"/>
          </a:p>
        </p:txBody>
      </p:sp>
      <p:sp>
        <p:nvSpPr>
          <p:cNvPr id="13" name="Text 8"/>
          <p:cNvSpPr/>
          <p:nvPr/>
        </p:nvSpPr>
        <p:spPr>
          <a:xfrm>
            <a:off x="590488" y="4370824"/>
            <a:ext cx="8229600" cy="365760"/>
          </a:xfrm>
          <a:prstGeom prst="rect">
            <a:avLst/>
          </a:prstGeom>
          <a:noFill/>
        </p:spPr>
        <p:txBody>
          <a:bodyPr wrap="square" rtlCol="0" anchor="ctr"/>
          <a:lstStyle/>
          <a:p>
            <a:pPr marL="0" indent="0">
              <a:buNone/>
            </a:pPr>
            <a:endParaRPr lang="en-US" sz="1200" dirty="0"/>
          </a:p>
        </p:txBody>
      </p:sp>
      <p:sp>
        <p:nvSpPr>
          <p:cNvPr id="2" name="Slide Number Placeholder 1"/>
          <p:cNvSpPr>
            <a:spLocks noGrp="1"/>
          </p:cNvSpPr>
          <p:nvPr>
            <p:ph type="sldNum" sz="quarter" idx="12"/>
          </p:nvPr>
        </p:nvSpPr>
        <p:spPr>
          <a:xfrm>
            <a:off x="4385692" y="6400800"/>
            <a:ext cx="372616" cy="196552"/>
          </a:xfrm>
          <a:prstGeom prst="rect">
            <a:avLst/>
          </a:prstGeom>
          <a:solidFill>
            <a:schemeClr val="bg1"/>
          </a:solidFill>
          <a:ln>
            <a:solidFill>
              <a:schemeClr val="bg1"/>
            </a:solidFill>
          </a:ln>
        </p:spPr>
        <p:txBody>
          <a:bodyPr/>
          <a:lstStyle/>
          <a:p>
            <a:fld id="{B48D66A2-BFCA-4667-A1CB-989A033A1578}" type="slidenum">
              <a:rPr lang="en-IN" sz="1200" smtClean="0">
                <a:solidFill>
                  <a:schemeClr val="bg1"/>
                </a:solidFill>
              </a:rPr>
              <a:t>1</a:t>
            </a:fld>
            <a:endParaRPr lang="en-IN" sz="1200" dirty="0">
              <a:solidFill>
                <a:schemeClr val="bg1"/>
              </a:solidFill>
            </a:endParaRPr>
          </a:p>
        </p:txBody>
      </p:sp>
      <p:pic>
        <p:nvPicPr>
          <p:cNvPr id="14" name="Picture 13" descr="XXXIX CONVOCATION – 17TH AUGUST 2025 LIST OF PRIZE WINNERS LORD  SELVAMUTHUKUMARAN AWARD - Chi. Aadhappan Vishnu S - B.Tech.-CS"/>
          <p:cNvPicPr/>
          <p:nvPr/>
        </p:nvPicPr>
        <p:blipFill>
          <a:blip r:embed="rId3">
            <a:extLst>
              <a:ext uri="{28A0092B-C50C-407E-A947-70E740481C1C}">
                <a14:useLocalDpi xmlns:a14="http://schemas.microsoft.com/office/drawing/2010/main" val="0"/>
              </a:ext>
            </a:extLst>
          </a:blip>
          <a:srcRect/>
          <a:stretch>
            <a:fillRect/>
          </a:stretch>
        </p:blipFill>
        <p:spPr bwMode="auto">
          <a:xfrm>
            <a:off x="1641691" y="188640"/>
            <a:ext cx="5471160" cy="1466215"/>
          </a:xfrm>
          <a:prstGeom prst="rect">
            <a:avLst/>
          </a:prstGeom>
          <a:noFill/>
          <a:ln>
            <a:noFill/>
          </a:ln>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extBox 17"/>
          <p:cNvSpPr txBox="1"/>
          <p:nvPr/>
        </p:nvSpPr>
        <p:spPr>
          <a:xfrm>
            <a:off x="343080" y="625043"/>
            <a:ext cx="8496944" cy="584775"/>
          </a:xfrm>
          <a:prstGeom prst="rect">
            <a:avLst/>
          </a:prstGeom>
          <a:noFill/>
        </p:spPr>
        <p:txBody>
          <a:bodyPr wrap="square" rtlCol="0">
            <a:spAutoFit/>
          </a:bodyPr>
          <a:lstStyle/>
          <a:p>
            <a:r>
              <a:rPr lang="en-IN" sz="3200" b="1" dirty="0" smtClean="0"/>
              <a:t>Problem Statement &amp; Objectives</a:t>
            </a:r>
            <a:endParaRPr lang="en-IN" sz="3200" b="1" dirty="0"/>
          </a:p>
        </p:txBody>
      </p:sp>
      <p:sp>
        <p:nvSpPr>
          <p:cNvPr id="19" name="Shape 1"/>
          <p:cNvSpPr/>
          <p:nvPr/>
        </p:nvSpPr>
        <p:spPr>
          <a:xfrm>
            <a:off x="328591" y="1276421"/>
            <a:ext cx="8412480" cy="27432"/>
          </a:xfrm>
          <a:prstGeom prst="rect">
            <a:avLst/>
          </a:prstGeom>
          <a:solidFill>
            <a:schemeClr val="bg1">
              <a:lumMod val="95000"/>
            </a:schemeClr>
          </a:solidFill>
          <a:ln>
            <a:noFill/>
          </a:ln>
        </p:spPr>
      </p:sp>
      <p:sp>
        <p:nvSpPr>
          <p:cNvPr id="20" name="TextBox 19"/>
          <p:cNvSpPr txBox="1"/>
          <p:nvPr/>
        </p:nvSpPr>
        <p:spPr>
          <a:xfrm>
            <a:off x="309039" y="1412776"/>
            <a:ext cx="4206240" cy="369332"/>
          </a:xfrm>
          <a:prstGeom prst="rect">
            <a:avLst/>
          </a:prstGeom>
          <a:noFill/>
        </p:spPr>
        <p:txBody>
          <a:bodyPr wrap="square" rtlCol="0">
            <a:spAutoFit/>
          </a:bodyPr>
          <a:lstStyle/>
          <a:p>
            <a:endParaRPr lang="en-IN" dirty="0"/>
          </a:p>
        </p:txBody>
      </p:sp>
      <p:sp>
        <p:nvSpPr>
          <p:cNvPr id="22" name="Shape 2"/>
          <p:cNvSpPr/>
          <p:nvPr/>
        </p:nvSpPr>
        <p:spPr>
          <a:xfrm>
            <a:off x="345383" y="1625033"/>
            <a:ext cx="3931920" cy="4693920"/>
          </a:xfrm>
          <a:prstGeom prst="rect">
            <a:avLst/>
          </a:prstGeom>
        </p:spPr>
        <p:style>
          <a:lnRef idx="2">
            <a:schemeClr val="accent2"/>
          </a:lnRef>
          <a:fillRef idx="1">
            <a:schemeClr val="lt1"/>
          </a:fillRef>
          <a:effectRef idx="0">
            <a:schemeClr val="accent2"/>
          </a:effectRef>
          <a:fontRef idx="minor">
            <a:schemeClr val="dk1"/>
          </a:fontRef>
        </p:style>
      </p:sp>
      <p:sp>
        <p:nvSpPr>
          <p:cNvPr id="23" name="Rectangle 22"/>
          <p:cNvSpPr/>
          <p:nvPr/>
        </p:nvSpPr>
        <p:spPr>
          <a:xfrm>
            <a:off x="4822345" y="1605702"/>
            <a:ext cx="4032448" cy="469392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6" name="Text 4"/>
          <p:cNvSpPr/>
          <p:nvPr/>
        </p:nvSpPr>
        <p:spPr>
          <a:xfrm>
            <a:off x="485229" y="1804292"/>
            <a:ext cx="3657600" cy="402336"/>
          </a:xfrm>
          <a:prstGeom prst="rect">
            <a:avLst/>
          </a:prstGeom>
          <a:noFill/>
        </p:spPr>
        <p:txBody>
          <a:bodyPr wrap="square"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b="1" dirty="0" smtClean="0">
                <a:solidFill>
                  <a:schemeClr val="accent2"/>
                </a:solidFill>
                <a:latin typeface="Calibri" panose="020F0502020204030204" pitchFamily="34" charset="0"/>
                <a:ea typeface="Calibri" panose="020F0502020204030204" pitchFamily="34" charset="-122"/>
                <a:cs typeface="Calibri" panose="020F0502020204030204" pitchFamily="34" charset="-120"/>
              </a:rPr>
              <a:t>Problem</a:t>
            </a:r>
            <a:r>
              <a:rPr lang="en-US" b="1" dirty="0" smtClean="0">
                <a:solidFill>
                  <a:srgbClr val="D93025"/>
                </a:solidFill>
                <a:latin typeface="Calibri" panose="020F0502020204030204" pitchFamily="34" charset="0"/>
                <a:ea typeface="Calibri" panose="020F0502020204030204" pitchFamily="34" charset="-122"/>
                <a:cs typeface="Calibri" panose="020F0502020204030204" pitchFamily="34" charset="-120"/>
              </a:rPr>
              <a:t> </a:t>
            </a:r>
            <a:r>
              <a:rPr lang="en-US" b="1" dirty="0" smtClean="0">
                <a:solidFill>
                  <a:schemeClr val="accent2"/>
                </a:solidFill>
                <a:latin typeface="Calibri" panose="020F0502020204030204" pitchFamily="34" charset="0"/>
                <a:ea typeface="Calibri" panose="020F0502020204030204" pitchFamily="34" charset="-122"/>
                <a:cs typeface="Calibri" panose="020F0502020204030204" pitchFamily="34" charset="-120"/>
              </a:rPr>
              <a:t>Statement</a:t>
            </a:r>
            <a:endParaRPr lang="en-US" dirty="0">
              <a:solidFill>
                <a:schemeClr val="accent2"/>
              </a:solidFill>
            </a:endParaRPr>
          </a:p>
        </p:txBody>
      </p:sp>
      <p:sp>
        <p:nvSpPr>
          <p:cNvPr id="32" name="Text 5"/>
          <p:cNvSpPr/>
          <p:nvPr/>
        </p:nvSpPr>
        <p:spPr>
          <a:xfrm>
            <a:off x="485229" y="2216754"/>
            <a:ext cx="3465711" cy="3765810"/>
          </a:xfrm>
          <a:prstGeom prst="rect">
            <a:avLst/>
          </a:prstGeom>
          <a:noFill/>
        </p:spPr>
        <p:txBody>
          <a:bodyPr wrap="square" rtlCol="0" anchor="t"/>
          <a:lstStyle/>
          <a:p>
            <a:endParaRPr lang="en-US" sz="1700" dirty="0" smtClean="0">
              <a:solidFill>
                <a:schemeClr val="tx1">
                  <a:lumMod val="85000"/>
                  <a:lumOff val="15000"/>
                </a:schemeClr>
              </a:solidFill>
              <a:latin typeface="Calibri" panose="020F0502020204030204" pitchFamily="34" charset="0"/>
              <a:ea typeface="Calibri" panose="020F0502020204030204" pitchFamily="34" charset="-122"/>
              <a:cs typeface="Calibri" panose="020F0502020204030204" pitchFamily="34" charset="-120"/>
            </a:endParaRPr>
          </a:p>
          <a:p>
            <a:r>
              <a:rPr lang="en-US" sz="1700" dirty="0" smtClean="0">
                <a:solidFill>
                  <a:schemeClr val="tx1">
                    <a:lumMod val="85000"/>
                    <a:lumOff val="15000"/>
                  </a:schemeClr>
                </a:solidFill>
                <a:latin typeface="Calibri" panose="020F0502020204030204" pitchFamily="34" charset="0"/>
                <a:ea typeface="Calibri" panose="020F0502020204030204" pitchFamily="34" charset="-122"/>
                <a:cs typeface="Calibri" panose="020F0502020204030204" pitchFamily="34" charset="-120"/>
              </a:rPr>
              <a:t>Normal delivery systems fully rely on human decision making </a:t>
            </a:r>
            <a:r>
              <a:rPr lang="en-US" sz="1700" dirty="0" smtClean="0">
                <a:solidFill>
                  <a:schemeClr val="tx1">
                    <a:lumMod val="85000"/>
                    <a:lumOff val="15000"/>
                  </a:schemeClr>
                </a:solidFill>
                <a:latin typeface="Calibri" panose="020F0502020204030204" pitchFamily="34" charset="0"/>
                <a:ea typeface="Calibri" panose="020F0502020204030204" pitchFamily="34" charset="-122"/>
                <a:cs typeface="Calibri" panose="020F0502020204030204" pitchFamily="34" charset="-120"/>
              </a:rPr>
              <a:t>—</a:t>
            </a:r>
            <a:r>
              <a:rPr lang="en-US" sz="1700" dirty="0">
                <a:solidFill>
                  <a:schemeClr val="tx1">
                    <a:lumMod val="85000"/>
                    <a:lumOff val="15000"/>
                  </a:schemeClr>
                </a:solidFill>
                <a:latin typeface="Calibri" panose="020F0502020204030204" pitchFamily="34" charset="0"/>
                <a:ea typeface="Calibri" panose="020F0502020204030204" pitchFamily="34" charset="-122"/>
                <a:cs typeface="Calibri" panose="020F0502020204030204" pitchFamily="34" charset="-120"/>
              </a:rPr>
              <a:t> </a:t>
            </a:r>
            <a:r>
              <a:rPr lang="en-US" altLang="en-GB" sz="1700" dirty="0" smtClean="0">
                <a:solidFill>
                  <a:schemeClr val="tx1">
                    <a:lumMod val="85000"/>
                    <a:lumOff val="15000"/>
                  </a:schemeClr>
                </a:solidFill>
                <a:latin typeface="Calibri" panose="020F0502020204030204" pitchFamily="34" charset="0"/>
                <a:ea typeface="Calibri" panose="020F0502020204030204" pitchFamily="34" charset="-122"/>
                <a:cs typeface="Calibri" panose="020F0502020204030204" pitchFamily="34" charset="-120"/>
              </a:rPr>
              <a:t>they </a:t>
            </a:r>
            <a:r>
              <a:rPr lang="en-US" altLang="en-GB" sz="1700" dirty="0" smtClean="0">
                <a:solidFill>
                  <a:schemeClr val="tx1">
                    <a:lumMod val="85000"/>
                    <a:lumOff val="15000"/>
                  </a:schemeClr>
                </a:solidFill>
                <a:latin typeface="Calibri" panose="020F0502020204030204" pitchFamily="34" charset="0"/>
                <a:ea typeface="Calibri" panose="020F0502020204030204" pitchFamily="34" charset="-122"/>
                <a:cs typeface="Calibri" panose="020F0502020204030204" pitchFamily="34" charset="-120"/>
              </a:rPr>
              <a:t>cannot automatically respond to new orders or low battery situations.</a:t>
            </a:r>
          </a:p>
          <a:p>
            <a:r>
              <a:rPr lang="en-US" sz="1700" dirty="0" smtClean="0">
                <a:solidFill>
                  <a:schemeClr val="tx1">
                    <a:lumMod val="85000"/>
                    <a:lumOff val="15000"/>
                  </a:schemeClr>
                </a:solidFill>
                <a:latin typeface="Calibri" panose="020F0502020204030204" pitchFamily="34" charset="0"/>
                <a:ea typeface="Calibri" panose="020F0502020204030204" pitchFamily="34" charset="-122"/>
                <a:cs typeface="Calibri" panose="020F0502020204030204" pitchFamily="34" charset="-120"/>
              </a:rPr>
              <a:t>
Electric </a:t>
            </a:r>
            <a:r>
              <a:rPr lang="en-US" sz="1700" dirty="0">
                <a:solidFill>
                  <a:schemeClr val="tx1">
                    <a:lumMod val="85000"/>
                    <a:lumOff val="15000"/>
                  </a:schemeClr>
                </a:solidFill>
                <a:latin typeface="Calibri" panose="020F0502020204030204" pitchFamily="34" charset="0"/>
                <a:ea typeface="Calibri" panose="020F0502020204030204" pitchFamily="34" charset="-122"/>
                <a:cs typeface="Calibri" panose="020F0502020204030204" pitchFamily="34" charset="-120"/>
              </a:rPr>
              <a:t>vehicles introduce battery constraints: </a:t>
            </a:r>
            <a:r>
              <a:rPr lang="en-US" sz="1700" dirty="0" smtClean="0">
                <a:solidFill>
                  <a:schemeClr val="tx1">
                    <a:lumMod val="85000"/>
                    <a:lumOff val="15000"/>
                  </a:schemeClr>
                </a:solidFill>
                <a:latin typeface="Calibri" panose="020F0502020204030204" pitchFamily="34" charset="0"/>
                <a:ea typeface="Calibri" panose="020F0502020204030204" pitchFamily="34" charset="-122"/>
                <a:cs typeface="Calibri" panose="020F0502020204030204" pitchFamily="34" charset="-120"/>
              </a:rPr>
              <a:t>vehicles must recharge mid-route without missing deliveries.</a:t>
            </a:r>
          </a:p>
          <a:p>
            <a:endParaRPr lang="en-US" sz="1700" dirty="0" smtClean="0">
              <a:solidFill>
                <a:schemeClr val="tx1">
                  <a:lumMod val="85000"/>
                  <a:lumOff val="15000"/>
                </a:schemeClr>
              </a:solidFill>
              <a:latin typeface="Calibri" panose="020F0502020204030204" pitchFamily="34" charset="0"/>
              <a:ea typeface="Calibri" panose="020F0502020204030204" pitchFamily="34" charset="-122"/>
              <a:cs typeface="Calibri" panose="020F0502020204030204" pitchFamily="34" charset="-120"/>
            </a:endParaRPr>
          </a:p>
          <a:p>
            <a:r>
              <a:rPr lang="en-US" sz="1700" dirty="0" smtClean="0">
                <a:solidFill>
                  <a:schemeClr val="tx1">
                    <a:lumMod val="85000"/>
                    <a:lumOff val="15000"/>
                  </a:schemeClr>
                </a:solidFill>
                <a:latin typeface="Calibri" panose="020F0502020204030204" pitchFamily="34" charset="0"/>
                <a:ea typeface="Calibri" panose="020F0502020204030204" pitchFamily="34" charset="-122"/>
                <a:cs typeface="Calibri" panose="020F0502020204030204" pitchFamily="34" charset="-120"/>
              </a:rPr>
              <a:t>Order priorities must be managed intelligently across multiple </a:t>
            </a:r>
            <a:r>
              <a:rPr lang="en-US" sz="1700" dirty="0" err="1" smtClean="0">
                <a:solidFill>
                  <a:schemeClr val="tx1">
                    <a:lumMod val="85000"/>
                    <a:lumOff val="15000"/>
                  </a:schemeClr>
                </a:solidFill>
                <a:latin typeface="Calibri" panose="020F0502020204030204" pitchFamily="34" charset="0"/>
                <a:ea typeface="Calibri" panose="020F0502020204030204" pitchFamily="34" charset="-122"/>
                <a:cs typeface="Calibri" panose="020F0502020204030204" pitchFamily="34" charset="-120"/>
              </a:rPr>
              <a:t>Evs</a:t>
            </a:r>
            <a:r>
              <a:rPr lang="en-US" sz="1700" dirty="0" smtClean="0">
                <a:solidFill>
                  <a:schemeClr val="tx1">
                    <a:lumMod val="85000"/>
                    <a:lumOff val="15000"/>
                  </a:schemeClr>
                </a:solidFill>
                <a:latin typeface="Calibri" panose="020F0502020204030204" pitchFamily="34" charset="0"/>
                <a:ea typeface="Calibri" panose="020F0502020204030204" pitchFamily="34" charset="-122"/>
                <a:cs typeface="Calibri" panose="020F0502020204030204" pitchFamily="34" charset="-120"/>
              </a:rPr>
              <a:t>.</a:t>
            </a:r>
            <a:endParaRPr lang="en-US" sz="1700" dirty="0">
              <a:solidFill>
                <a:schemeClr val="tx1">
                  <a:lumMod val="85000"/>
                  <a:lumOff val="15000"/>
                </a:schemeClr>
              </a:solidFill>
            </a:endParaRPr>
          </a:p>
        </p:txBody>
      </p:sp>
      <p:sp>
        <p:nvSpPr>
          <p:cNvPr id="33" name="Text 9"/>
          <p:cNvSpPr/>
          <p:nvPr/>
        </p:nvSpPr>
        <p:spPr>
          <a:xfrm>
            <a:off x="4878023" y="2190126"/>
            <a:ext cx="3931920" cy="3779520"/>
          </a:xfrm>
          <a:prstGeom prst="rect">
            <a:avLst/>
          </a:prstGeom>
          <a:noFill/>
        </p:spPr>
        <p:txBody>
          <a:bodyPr wrap="square" rtlCol="0" anchor="ctr"/>
          <a:lstStyle/>
          <a:p>
            <a:pPr marL="342900" indent="-342900">
              <a:spcAft>
                <a:spcPts val="900"/>
              </a:spcAft>
              <a:buFont typeface="+mj-lt"/>
              <a:buAutoNum type="arabicPeriod"/>
            </a:pPr>
            <a:r>
              <a:rPr lang="en-US" sz="1700" dirty="0" smtClean="0">
                <a:solidFill>
                  <a:schemeClr val="tx1">
                    <a:lumMod val="85000"/>
                    <a:lumOff val="15000"/>
                  </a:schemeClr>
                </a:solidFill>
                <a:latin typeface="Calibri" panose="020F0502020204030204" pitchFamily="34" charset="0"/>
                <a:ea typeface="Calibri" panose="020F0502020204030204" pitchFamily="34" charset="-122"/>
                <a:cs typeface="Calibri" panose="020F0502020204030204" pitchFamily="34" charset="-120"/>
              </a:rPr>
              <a:t>Develop a multi EV Delivery simulation</a:t>
            </a:r>
          </a:p>
          <a:p>
            <a:pPr marL="342900" indent="-342900">
              <a:spcAft>
                <a:spcPts val="900"/>
              </a:spcAft>
              <a:buFont typeface="+mj-lt"/>
              <a:buAutoNum type="arabicPeriod"/>
            </a:pPr>
            <a:r>
              <a:rPr lang="en-US" sz="1700" dirty="0" smtClean="0">
                <a:solidFill>
                  <a:schemeClr val="tx1">
                    <a:lumMod val="85000"/>
                    <a:lumOff val="15000"/>
                  </a:schemeClr>
                </a:solidFill>
                <a:latin typeface="Calibri" panose="020F0502020204030204" pitchFamily="34" charset="0"/>
                <a:ea typeface="Calibri" panose="020F0502020204030204" pitchFamily="34" charset="-122"/>
                <a:cs typeface="Calibri" panose="020F0502020204030204" pitchFamily="34" charset="-120"/>
              </a:rPr>
              <a:t>Implement A* for finding shortest path</a:t>
            </a:r>
          </a:p>
          <a:p>
            <a:pPr marL="342900" indent="-342900">
              <a:spcAft>
                <a:spcPts val="900"/>
              </a:spcAft>
              <a:buFont typeface="+mj-lt"/>
              <a:buAutoNum type="arabicPeriod"/>
            </a:pPr>
            <a:r>
              <a:rPr lang="en-US" sz="1700" dirty="0" smtClean="0">
                <a:solidFill>
                  <a:schemeClr val="tx1">
                    <a:lumMod val="85000"/>
                    <a:lumOff val="15000"/>
                  </a:schemeClr>
                </a:solidFill>
                <a:latin typeface="Calibri" panose="020F0502020204030204" pitchFamily="34" charset="0"/>
                <a:ea typeface="Calibri" panose="020F0502020204030204" pitchFamily="34" charset="-122"/>
                <a:cs typeface="Calibri" panose="020F0502020204030204" pitchFamily="34" charset="-120"/>
              </a:rPr>
              <a:t>Design priority based order management.</a:t>
            </a:r>
          </a:p>
          <a:p>
            <a:pPr marL="342900" indent="-342900">
              <a:spcAft>
                <a:spcPts val="900"/>
              </a:spcAft>
              <a:buFont typeface="+mj-lt"/>
              <a:buAutoNum type="arabicPeriod"/>
            </a:pPr>
            <a:r>
              <a:rPr lang="en-US" sz="1700" dirty="0" smtClean="0">
                <a:solidFill>
                  <a:schemeClr val="tx1">
                    <a:lumMod val="85000"/>
                    <a:lumOff val="15000"/>
                  </a:schemeClr>
                </a:solidFill>
                <a:latin typeface="Calibri" panose="020F0502020204030204" pitchFamily="34" charset="0"/>
                <a:ea typeface="Calibri" panose="020F0502020204030204" pitchFamily="34" charset="-122"/>
                <a:cs typeface="Calibri" panose="020F0502020204030204" pitchFamily="34" charset="-120"/>
              </a:rPr>
              <a:t>Enable real time battery monitoring &amp; charging</a:t>
            </a:r>
          </a:p>
          <a:p>
            <a:pPr marL="342900" indent="-342900">
              <a:spcAft>
                <a:spcPts val="900"/>
              </a:spcAft>
              <a:buFont typeface="+mj-lt"/>
              <a:buAutoNum type="arabicPeriod"/>
            </a:pPr>
            <a:r>
              <a:rPr lang="en-US" sz="1700" dirty="0" smtClean="0">
                <a:solidFill>
                  <a:schemeClr val="tx1">
                    <a:lumMod val="85000"/>
                    <a:lumOff val="15000"/>
                  </a:schemeClr>
                </a:solidFill>
                <a:latin typeface="Calibri" panose="020F0502020204030204" pitchFamily="34" charset="0"/>
                <a:ea typeface="Calibri" panose="020F0502020204030204" pitchFamily="34" charset="-122"/>
                <a:cs typeface="Calibri" panose="020F0502020204030204" pitchFamily="34" charset="-120"/>
              </a:rPr>
              <a:t>Build an interactive simulation using </a:t>
            </a:r>
            <a:r>
              <a:rPr lang="en-US" sz="1700" dirty="0" err="1" smtClean="0">
                <a:solidFill>
                  <a:schemeClr val="tx1">
                    <a:lumMod val="85000"/>
                    <a:lumOff val="15000"/>
                  </a:schemeClr>
                </a:solidFill>
                <a:latin typeface="Calibri" panose="020F0502020204030204" pitchFamily="34" charset="0"/>
                <a:ea typeface="Calibri" panose="020F0502020204030204" pitchFamily="34" charset="-122"/>
                <a:cs typeface="Calibri" panose="020F0502020204030204" pitchFamily="34" charset="-120"/>
              </a:rPr>
              <a:t>Pygame</a:t>
            </a:r>
            <a:r>
              <a:rPr lang="en-US" sz="1700" dirty="0" smtClean="0">
                <a:solidFill>
                  <a:schemeClr val="tx1">
                    <a:lumMod val="85000"/>
                    <a:lumOff val="15000"/>
                  </a:schemeClr>
                </a:solidFill>
                <a:latin typeface="Calibri" panose="020F0502020204030204" pitchFamily="34" charset="0"/>
                <a:ea typeface="Calibri" panose="020F0502020204030204" pitchFamily="34" charset="-122"/>
                <a:cs typeface="Calibri" panose="020F0502020204030204" pitchFamily="34" charset="-120"/>
              </a:rPr>
              <a:t>.</a:t>
            </a:r>
            <a:endParaRPr lang="en-US" sz="1700" dirty="0">
              <a:solidFill>
                <a:schemeClr val="tx1">
                  <a:lumMod val="85000"/>
                  <a:lumOff val="15000"/>
                </a:schemeClr>
              </a:solidFill>
            </a:endParaRPr>
          </a:p>
        </p:txBody>
      </p:sp>
      <p:sp>
        <p:nvSpPr>
          <p:cNvPr id="31" name="Rectangle 30"/>
          <p:cNvSpPr/>
          <p:nvPr/>
        </p:nvSpPr>
        <p:spPr>
          <a:xfrm>
            <a:off x="4907971" y="1820794"/>
            <a:ext cx="3872024" cy="369332"/>
          </a:xfrm>
          <a:prstGeom prst="rect">
            <a:avLst/>
          </a:prstGeom>
        </p:spPr>
        <p:txBody>
          <a:bodyPr wrap="square">
            <a:spAutoFit/>
          </a:bodyPr>
          <a:lstStyle/>
          <a:p>
            <a:r>
              <a:rPr lang="en-US" b="1" dirty="0" smtClean="0">
                <a:solidFill>
                  <a:schemeClr val="tx2">
                    <a:lumMod val="60000"/>
                    <a:lumOff val="40000"/>
                  </a:schemeClr>
                </a:solidFill>
                <a:latin typeface="Calibri" panose="020F0502020204030204" pitchFamily="34" charset="0"/>
                <a:ea typeface="Calibri" panose="020F0502020204030204" pitchFamily="34" charset="-122"/>
                <a:cs typeface="Calibri" panose="020F0502020204030204" pitchFamily="34" charset="-120"/>
              </a:rPr>
              <a:t>Objectives</a:t>
            </a:r>
            <a:endParaRPr lang="en-US" dirty="0">
              <a:solidFill>
                <a:schemeClr val="tx2">
                  <a:lumMod val="60000"/>
                  <a:lumOff val="40000"/>
                </a:schemeClr>
              </a:solidFill>
            </a:endParaRPr>
          </a:p>
        </p:txBody>
      </p:sp>
      <p:sp>
        <p:nvSpPr>
          <p:cNvPr id="12" name="Slide Number Placeholder 1"/>
          <p:cNvSpPr txBox="1"/>
          <p:nvPr/>
        </p:nvSpPr>
        <p:spPr>
          <a:xfrm>
            <a:off x="4385692" y="6400800"/>
            <a:ext cx="372616" cy="196552"/>
          </a:xfrm>
          <a:prstGeom prst="rect">
            <a:avLst/>
          </a:prstGeom>
          <a:solidFill>
            <a:schemeClr val="bg1"/>
          </a:solidFill>
          <a:ln>
            <a:solidFill>
              <a:schemeClr val="bg1"/>
            </a:solidFill>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48D66A2-BFCA-4667-A1CB-989A033A1578}" type="slidenum">
              <a:rPr lang="en-IN" sz="1200" smtClean="0"/>
              <a:t>2</a:t>
            </a:fld>
            <a:endParaRPr lang="en-IN" sz="1400"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43080" y="625043"/>
            <a:ext cx="8496944" cy="584775"/>
          </a:xfrm>
          <a:prstGeom prst="rect">
            <a:avLst/>
          </a:prstGeom>
          <a:noFill/>
        </p:spPr>
        <p:txBody>
          <a:bodyPr wrap="square" rtlCol="0">
            <a:spAutoFit/>
          </a:bodyPr>
          <a:lstStyle/>
          <a:p>
            <a:r>
              <a:rPr lang="en-IN" sz="3200" b="1" dirty="0" smtClean="0"/>
              <a:t>System Architecture</a:t>
            </a:r>
            <a:endParaRPr lang="en-IN" sz="3200" b="1" dirty="0"/>
          </a:p>
        </p:txBody>
      </p:sp>
      <p:sp>
        <p:nvSpPr>
          <p:cNvPr id="3" name="Shape 1"/>
          <p:cNvSpPr/>
          <p:nvPr/>
        </p:nvSpPr>
        <p:spPr>
          <a:xfrm>
            <a:off x="328591" y="1276421"/>
            <a:ext cx="8412480" cy="27432"/>
          </a:xfrm>
          <a:prstGeom prst="rect">
            <a:avLst/>
          </a:prstGeom>
          <a:solidFill>
            <a:schemeClr val="bg1">
              <a:lumMod val="95000"/>
            </a:schemeClr>
          </a:solidFill>
          <a:ln>
            <a:noFill/>
          </a:ln>
        </p:spPr>
      </p:sp>
      <p:sp>
        <p:nvSpPr>
          <p:cNvPr id="13" name="TextBox 12"/>
          <p:cNvSpPr txBox="1"/>
          <p:nvPr/>
        </p:nvSpPr>
        <p:spPr>
          <a:xfrm>
            <a:off x="1916849" y="1692950"/>
            <a:ext cx="1512168" cy="369332"/>
          </a:xfrm>
          <a:prstGeom prst="rect">
            <a:avLst/>
          </a:prstGeom>
          <a:solidFill>
            <a:schemeClr val="bg1"/>
          </a:solidFill>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en-IN" dirty="0" smtClean="0">
                <a:solidFill>
                  <a:schemeClr val="tx1">
                    <a:lumMod val="85000"/>
                    <a:lumOff val="15000"/>
                  </a:schemeClr>
                </a:solidFill>
              </a:rPr>
              <a:t>LOADING</a:t>
            </a:r>
          </a:p>
        </p:txBody>
      </p:sp>
      <p:sp>
        <p:nvSpPr>
          <p:cNvPr id="24" name="TextBox 23"/>
          <p:cNvSpPr txBox="1"/>
          <p:nvPr/>
        </p:nvSpPr>
        <p:spPr>
          <a:xfrm>
            <a:off x="474667" y="1692950"/>
            <a:ext cx="1276453" cy="369332"/>
          </a:xfrm>
          <a:prstGeom prst="rect">
            <a:avLst/>
          </a:prstGeom>
          <a:solidFill>
            <a:schemeClr val="bg1"/>
          </a:solidFill>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en-IN" dirty="0" smtClean="0">
                <a:solidFill>
                  <a:schemeClr val="tx1">
                    <a:lumMod val="85000"/>
                    <a:lumOff val="15000"/>
                  </a:schemeClr>
                </a:solidFill>
              </a:rPr>
              <a:t>IDLE</a:t>
            </a:r>
          </a:p>
        </p:txBody>
      </p:sp>
      <p:sp>
        <p:nvSpPr>
          <p:cNvPr id="25" name="TextBox 24"/>
          <p:cNvSpPr txBox="1"/>
          <p:nvPr/>
        </p:nvSpPr>
        <p:spPr>
          <a:xfrm>
            <a:off x="5510164" y="1692950"/>
            <a:ext cx="1728192" cy="369332"/>
          </a:xfrm>
          <a:prstGeom prst="rect">
            <a:avLst/>
          </a:prstGeom>
          <a:solidFill>
            <a:schemeClr val="bg1"/>
          </a:solidFill>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en-IN" dirty="0" smtClean="0">
                <a:solidFill>
                  <a:schemeClr val="tx1">
                    <a:lumMod val="85000"/>
                    <a:lumOff val="15000"/>
                  </a:schemeClr>
                </a:solidFill>
              </a:rPr>
              <a:t>RETURNING</a:t>
            </a:r>
          </a:p>
        </p:txBody>
      </p:sp>
      <p:sp>
        <p:nvSpPr>
          <p:cNvPr id="26" name="TextBox 25"/>
          <p:cNvSpPr txBox="1"/>
          <p:nvPr/>
        </p:nvSpPr>
        <p:spPr>
          <a:xfrm>
            <a:off x="3582570" y="1692950"/>
            <a:ext cx="1728192" cy="369332"/>
          </a:xfrm>
          <a:prstGeom prst="rect">
            <a:avLst/>
          </a:prstGeom>
          <a:solidFill>
            <a:schemeClr val="bg1"/>
          </a:solidFill>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en-IN" dirty="0" smtClean="0">
                <a:solidFill>
                  <a:schemeClr val="tx1">
                    <a:lumMod val="85000"/>
                    <a:lumOff val="15000"/>
                  </a:schemeClr>
                </a:solidFill>
              </a:rPr>
              <a:t>DELIVERING</a:t>
            </a:r>
          </a:p>
        </p:txBody>
      </p:sp>
      <p:sp>
        <p:nvSpPr>
          <p:cNvPr id="27" name="TextBox 26"/>
          <p:cNvSpPr txBox="1"/>
          <p:nvPr/>
        </p:nvSpPr>
        <p:spPr>
          <a:xfrm>
            <a:off x="7382372" y="1692950"/>
            <a:ext cx="1276453" cy="369332"/>
          </a:xfrm>
          <a:prstGeom prst="rect">
            <a:avLst/>
          </a:prstGeom>
          <a:solidFill>
            <a:schemeClr val="bg1"/>
          </a:solidFill>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en-IN" dirty="0" smtClean="0">
                <a:solidFill>
                  <a:schemeClr val="tx1">
                    <a:lumMod val="85000"/>
                    <a:lumOff val="15000"/>
                  </a:schemeClr>
                </a:solidFill>
              </a:rPr>
              <a:t>IDLE</a:t>
            </a:r>
          </a:p>
        </p:txBody>
      </p:sp>
      <p:sp>
        <p:nvSpPr>
          <p:cNvPr id="28" name="TextBox 27"/>
          <p:cNvSpPr txBox="1"/>
          <p:nvPr/>
        </p:nvSpPr>
        <p:spPr>
          <a:xfrm>
            <a:off x="3542767" y="2471521"/>
            <a:ext cx="1845741" cy="369332"/>
          </a:xfrm>
          <a:prstGeom prst="rect">
            <a:avLst/>
          </a:prstGeom>
          <a:solidFill>
            <a:schemeClr val="bg1"/>
          </a:solidFill>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en-IN" dirty="0" smtClean="0">
                <a:solidFill>
                  <a:schemeClr val="tx1">
                    <a:lumMod val="85000"/>
                    <a:lumOff val="15000"/>
                  </a:schemeClr>
                </a:solidFill>
              </a:rPr>
              <a:t>CHARGING</a:t>
            </a:r>
          </a:p>
        </p:txBody>
      </p:sp>
      <p:sp>
        <p:nvSpPr>
          <p:cNvPr id="29" name="Down Arrow 28"/>
          <p:cNvSpPr/>
          <p:nvPr/>
        </p:nvSpPr>
        <p:spPr>
          <a:xfrm>
            <a:off x="3925988" y="2080123"/>
            <a:ext cx="144015" cy="391398"/>
          </a:xfrm>
          <a:prstGeom prst="downArrow">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0" name="Right Arrow 29"/>
          <p:cNvSpPr/>
          <p:nvPr/>
        </p:nvSpPr>
        <p:spPr>
          <a:xfrm>
            <a:off x="1751120" y="1877616"/>
            <a:ext cx="165729" cy="45719"/>
          </a:xfrm>
          <a:prstGeom prst="rightArrow">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1" name="Right Arrow 30"/>
          <p:cNvSpPr/>
          <p:nvPr/>
        </p:nvSpPr>
        <p:spPr>
          <a:xfrm>
            <a:off x="3429017" y="1877616"/>
            <a:ext cx="153553" cy="45719"/>
          </a:xfrm>
          <a:prstGeom prst="rightArrow">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2" name="Right Arrow 31"/>
          <p:cNvSpPr/>
          <p:nvPr/>
        </p:nvSpPr>
        <p:spPr>
          <a:xfrm>
            <a:off x="5310762" y="1877616"/>
            <a:ext cx="199402" cy="45719"/>
          </a:xfrm>
          <a:prstGeom prst="rightArrow">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5" name="Right Arrow 34"/>
          <p:cNvSpPr/>
          <p:nvPr/>
        </p:nvSpPr>
        <p:spPr>
          <a:xfrm>
            <a:off x="7238356" y="1877616"/>
            <a:ext cx="144016" cy="45719"/>
          </a:xfrm>
          <a:prstGeom prst="rightArrow">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8" name="Up Arrow 37"/>
          <p:cNvSpPr/>
          <p:nvPr/>
        </p:nvSpPr>
        <p:spPr>
          <a:xfrm>
            <a:off x="4737628" y="2062282"/>
            <a:ext cx="124464" cy="409239"/>
          </a:xfrm>
          <a:prstGeom prst="upArrow">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9" name="TextBox 38"/>
          <p:cNvSpPr txBox="1"/>
          <p:nvPr/>
        </p:nvSpPr>
        <p:spPr>
          <a:xfrm>
            <a:off x="2235336" y="2153566"/>
            <a:ext cx="1690652" cy="307777"/>
          </a:xfrm>
          <a:prstGeom prst="rect">
            <a:avLst/>
          </a:prstGeom>
          <a:solidFill>
            <a:schemeClr val="bg1"/>
          </a:solidFill>
        </p:spPr>
        <p:txBody>
          <a:bodyPr wrap="square" rtlCol="0">
            <a:spAutoFit/>
          </a:bodyPr>
          <a:lstStyle/>
          <a:p>
            <a:pPr algn="r"/>
            <a:r>
              <a:rPr lang="en-IN" sz="1400" dirty="0" smtClean="0"/>
              <a:t>(If charge is low)</a:t>
            </a:r>
            <a:endParaRPr lang="en-IN" sz="1400" dirty="0"/>
          </a:p>
        </p:txBody>
      </p:sp>
      <p:sp>
        <p:nvSpPr>
          <p:cNvPr id="40" name="TextBox 39"/>
          <p:cNvSpPr txBox="1"/>
          <p:nvPr/>
        </p:nvSpPr>
        <p:spPr>
          <a:xfrm>
            <a:off x="467544" y="3356992"/>
            <a:ext cx="4697142" cy="461665"/>
          </a:xfrm>
          <a:prstGeom prst="rect">
            <a:avLst/>
          </a:prstGeom>
          <a:noFill/>
        </p:spPr>
        <p:txBody>
          <a:bodyPr wrap="square" rtlCol="0">
            <a:spAutoFit/>
          </a:bodyPr>
          <a:lstStyle/>
          <a:p>
            <a:r>
              <a:rPr lang="en-IN" sz="2400" dirty="0" smtClean="0"/>
              <a:t>Modules : </a:t>
            </a:r>
            <a:endParaRPr lang="en-IN" sz="2000" dirty="0"/>
          </a:p>
        </p:txBody>
      </p:sp>
      <p:graphicFrame>
        <p:nvGraphicFramePr>
          <p:cNvPr id="42" name="Table 41"/>
          <p:cNvGraphicFramePr>
            <a:graphicFrameLocks noGrp="1"/>
          </p:cNvGraphicFramePr>
          <p:nvPr>
            <p:extLst>
              <p:ext uri="{D42A27DB-BD31-4B8C-83A1-F6EECF244321}">
                <p14:modId xmlns:p14="http://schemas.microsoft.com/office/powerpoint/2010/main" val="1045922884"/>
              </p:ext>
            </p:extLst>
          </p:nvPr>
        </p:nvGraphicFramePr>
        <p:xfrm>
          <a:off x="470205" y="4005064"/>
          <a:ext cx="8203590" cy="1828800"/>
        </p:xfrm>
        <a:graphic>
          <a:graphicData uri="http://schemas.openxmlformats.org/drawingml/2006/table">
            <a:tbl>
              <a:tblPr firstRow="1" bandRow="1">
                <a:tableStyleId>{BC89EF96-8CEA-46FF-86C4-4CE0E7609802}</a:tableStyleId>
              </a:tblPr>
              <a:tblGrid>
                <a:gridCol w="1367265"/>
                <a:gridCol w="1367265"/>
                <a:gridCol w="1367265"/>
                <a:gridCol w="1367265"/>
                <a:gridCol w="1367265"/>
                <a:gridCol w="1367265"/>
              </a:tblGrid>
              <a:tr h="1728192">
                <a:tc>
                  <a:txBody>
                    <a:bodyPr/>
                    <a:lstStyle/>
                    <a:p>
                      <a:pPr algn="ctr"/>
                      <a:endParaRPr lang="en-IN" dirty="0" smtClean="0"/>
                    </a:p>
                    <a:p>
                      <a:pPr algn="ctr"/>
                      <a:r>
                        <a:rPr lang="en-IN" dirty="0" smtClean="0">
                          <a:solidFill>
                            <a:schemeClr val="accent1"/>
                          </a:solidFill>
                        </a:rPr>
                        <a:t>main.py</a:t>
                      </a:r>
                    </a:p>
                    <a:p>
                      <a:pPr algn="ctr"/>
                      <a:endParaRPr lang="en-IN" dirty="0" smtClean="0"/>
                    </a:p>
                    <a:p>
                      <a:pPr algn="ctr"/>
                      <a:r>
                        <a:rPr lang="en-IN" sz="1400" b="0" dirty="0" smtClean="0"/>
                        <a:t>controls simulation</a:t>
                      </a:r>
                      <a:r>
                        <a:rPr lang="en-IN" sz="1400" b="0" baseline="0" dirty="0" smtClean="0"/>
                        <a:t> </a:t>
                      </a:r>
                      <a:r>
                        <a:rPr lang="en-IN" sz="1400" b="0" dirty="0" smtClean="0"/>
                        <a:t>loop</a:t>
                      </a:r>
                      <a:endParaRPr lang="en-IN" sz="1600" b="0" dirty="0"/>
                    </a:p>
                  </a:txBody>
                  <a:tcPr>
                    <a:lnR w="19050" cap="flat" cmpd="sng" algn="ctr">
                      <a:solidFill>
                        <a:schemeClr val="accent1"/>
                      </a:solid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a:txBody>
                    <a:bodyPr/>
                    <a:lstStyle/>
                    <a:p>
                      <a:pPr algn="ctr"/>
                      <a:endParaRPr lang="en-IN" dirty="0" smtClean="0"/>
                    </a:p>
                    <a:p>
                      <a:pPr algn="ctr"/>
                      <a:r>
                        <a:rPr lang="en-IN" dirty="0" smtClean="0">
                          <a:solidFill>
                            <a:schemeClr val="accent1"/>
                          </a:solidFill>
                        </a:rPr>
                        <a:t>world.py</a:t>
                      </a:r>
                    </a:p>
                    <a:p>
                      <a:pPr algn="ctr"/>
                      <a:endParaRPr lang="en-IN" dirty="0" smtClean="0"/>
                    </a:p>
                    <a:p>
                      <a:pPr algn="ctr"/>
                      <a:r>
                        <a:rPr lang="en-IN" sz="1400" b="0" dirty="0" smtClean="0"/>
                        <a:t>creates grid and map</a:t>
                      </a:r>
                      <a:endParaRPr lang="en-IN" sz="1400" dirty="0"/>
                    </a:p>
                  </a:txBody>
                  <a:tcPr>
                    <a:lnL w="19050" cap="flat" cmpd="sng" algn="ctr">
                      <a:solidFill>
                        <a:schemeClr val="accent1"/>
                      </a:solidFill>
                      <a:prstDash val="solid"/>
                      <a:round/>
                      <a:headEnd type="none" w="med" len="med"/>
                      <a:tailEnd type="none" w="med" len="med"/>
                    </a:lnL>
                    <a:lnR w="19050" cap="flat" cmpd="sng" algn="ctr">
                      <a:solidFill>
                        <a:schemeClr val="accent1"/>
                      </a:solid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a:txBody>
                    <a:bodyPr/>
                    <a:lstStyle/>
                    <a:p>
                      <a:pPr algn="ctr"/>
                      <a:endParaRPr lang="en-IN" dirty="0" smtClean="0"/>
                    </a:p>
                    <a:p>
                      <a:pPr algn="ctr"/>
                      <a:r>
                        <a:rPr lang="en-IN" dirty="0" smtClean="0">
                          <a:solidFill>
                            <a:schemeClr val="accent1"/>
                          </a:solidFill>
                        </a:rPr>
                        <a:t>ev.py</a:t>
                      </a:r>
                    </a:p>
                    <a:p>
                      <a:pPr algn="ctr"/>
                      <a:endParaRPr lang="en-IN" dirty="0" smtClean="0"/>
                    </a:p>
                    <a:p>
                      <a:pPr algn="ctr"/>
                      <a:r>
                        <a:rPr lang="en-IN" sz="1400" b="0" dirty="0" err="1" smtClean="0"/>
                        <a:t>ev</a:t>
                      </a:r>
                      <a:r>
                        <a:rPr lang="en-IN" sz="1400" b="0" baseline="0" dirty="0" smtClean="0"/>
                        <a:t> agent logic movement, battery, states</a:t>
                      </a:r>
                      <a:endParaRPr lang="en-IN" dirty="0"/>
                    </a:p>
                  </a:txBody>
                  <a:tcPr>
                    <a:lnL w="19050" cap="flat" cmpd="sng" algn="ctr">
                      <a:solidFill>
                        <a:schemeClr val="accent1"/>
                      </a:solidFill>
                      <a:prstDash val="solid"/>
                      <a:round/>
                      <a:headEnd type="none" w="med" len="med"/>
                      <a:tailEnd type="none" w="med" len="med"/>
                    </a:lnL>
                    <a:lnR w="19050" cap="flat" cmpd="sng" algn="ctr">
                      <a:solidFill>
                        <a:schemeClr val="accent1"/>
                      </a:solid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a:txBody>
                    <a:bodyPr/>
                    <a:lstStyle/>
                    <a:p>
                      <a:pPr algn="ctr"/>
                      <a:endParaRPr lang="en-IN" dirty="0" smtClean="0"/>
                    </a:p>
                    <a:p>
                      <a:pPr algn="ctr"/>
                      <a:r>
                        <a:rPr lang="en-IN" dirty="0" smtClean="0">
                          <a:solidFill>
                            <a:schemeClr val="accent1"/>
                          </a:solidFill>
                        </a:rPr>
                        <a:t>orders.py</a:t>
                      </a:r>
                    </a:p>
                    <a:p>
                      <a:pPr algn="ctr"/>
                      <a:endParaRPr lang="en-IN" dirty="0" smtClean="0"/>
                    </a:p>
                    <a:p>
                      <a:pPr algn="ctr"/>
                      <a:r>
                        <a:rPr lang="en-IN" sz="1400" b="0" dirty="0" smtClean="0"/>
                        <a:t>order management system</a:t>
                      </a:r>
                    </a:p>
                    <a:p>
                      <a:pPr algn="ctr"/>
                      <a:endParaRPr lang="en-IN" dirty="0"/>
                    </a:p>
                  </a:txBody>
                  <a:tcPr>
                    <a:lnL w="19050" cap="flat" cmpd="sng" algn="ctr">
                      <a:solidFill>
                        <a:schemeClr val="accent1"/>
                      </a:solidFill>
                      <a:prstDash val="solid"/>
                      <a:round/>
                      <a:headEnd type="none" w="med" len="med"/>
                      <a:tailEnd type="none" w="med" len="med"/>
                    </a:lnL>
                    <a:lnR w="19050" cap="flat" cmpd="sng" algn="ctr">
                      <a:solidFill>
                        <a:schemeClr val="accent1"/>
                      </a:solid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a:txBody>
                    <a:bodyPr/>
                    <a:lstStyle/>
                    <a:p>
                      <a:pPr algn="ctr"/>
                      <a:endParaRPr lang="en-IN" dirty="0" smtClean="0"/>
                    </a:p>
                    <a:p>
                      <a:pPr algn="ctr"/>
                      <a:r>
                        <a:rPr lang="en-IN" dirty="0" smtClean="0">
                          <a:solidFill>
                            <a:schemeClr val="accent1"/>
                          </a:solidFill>
                        </a:rPr>
                        <a:t>ui.py</a:t>
                      </a:r>
                    </a:p>
                    <a:p>
                      <a:pPr algn="ctr"/>
                      <a:endParaRPr lang="en-IN" dirty="0" smtClean="0"/>
                    </a:p>
                    <a:p>
                      <a:pPr algn="ctr"/>
                      <a:r>
                        <a:rPr lang="en-IN" sz="1400" b="0" dirty="0" smtClean="0"/>
                        <a:t>visualization dashboard</a:t>
                      </a:r>
                    </a:p>
                    <a:p>
                      <a:pPr algn="ctr"/>
                      <a:endParaRPr lang="en-IN" dirty="0"/>
                    </a:p>
                  </a:txBody>
                  <a:tcPr>
                    <a:lnL w="19050" cap="flat" cmpd="sng" algn="ctr">
                      <a:solidFill>
                        <a:schemeClr val="accent1"/>
                      </a:solidFill>
                      <a:prstDash val="solid"/>
                      <a:round/>
                      <a:headEnd type="none" w="med" len="med"/>
                      <a:tailEnd type="none" w="med" len="med"/>
                    </a:lnL>
                    <a:lnR w="19050" cap="flat" cmpd="sng" algn="ctr">
                      <a:solidFill>
                        <a:schemeClr val="accent1"/>
                      </a:solid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a:txBody>
                    <a:bodyPr/>
                    <a:lstStyle/>
                    <a:p>
                      <a:pPr algn="ctr"/>
                      <a:endParaRPr lang="en-IN" dirty="0" smtClean="0"/>
                    </a:p>
                    <a:p>
                      <a:pPr algn="ctr"/>
                      <a:r>
                        <a:rPr lang="en-IN" dirty="0" smtClean="0">
                          <a:solidFill>
                            <a:schemeClr val="accent1"/>
                          </a:solidFill>
                        </a:rPr>
                        <a:t>config.py</a:t>
                      </a:r>
                    </a:p>
                    <a:p>
                      <a:pPr algn="ctr"/>
                      <a:endParaRPr lang="en-IN" dirty="0" smtClean="0"/>
                    </a:p>
                    <a:p>
                      <a:pPr algn="ctr"/>
                      <a:r>
                        <a:rPr lang="en-IN" sz="1400" b="0" dirty="0" smtClean="0"/>
                        <a:t>store</a:t>
                      </a:r>
                      <a:r>
                        <a:rPr lang="en-IN" sz="1400" b="0" baseline="0" dirty="0" smtClean="0"/>
                        <a:t>s </a:t>
                      </a:r>
                      <a:r>
                        <a:rPr lang="en-IN" sz="1400" b="0" dirty="0" smtClean="0"/>
                        <a:t>parameters</a:t>
                      </a:r>
                    </a:p>
                    <a:p>
                      <a:pPr algn="ctr"/>
                      <a:endParaRPr lang="en-IN" dirty="0"/>
                    </a:p>
                  </a:txBody>
                  <a:tcPr>
                    <a:lnL w="19050" cap="flat" cmpd="sng" algn="ctr">
                      <a:solidFill>
                        <a:schemeClr val="accent1"/>
                      </a:solidFill>
                      <a:prstDash val="solid"/>
                      <a:round/>
                      <a:headEnd type="none" w="med" len="med"/>
                      <a:tailEnd type="none" w="med" len="med"/>
                    </a:lnL>
                    <a:lnB w="12700" cap="flat" cmpd="sng" algn="ctr">
                      <a:solidFill>
                        <a:schemeClr val="accent1"/>
                      </a:solidFill>
                      <a:prstDash val="solid"/>
                      <a:round/>
                      <a:headEnd type="none" w="med" len="med"/>
                      <a:tailEnd type="none" w="med" len="med"/>
                    </a:lnB>
                  </a:tcPr>
                </a:tc>
              </a:tr>
            </a:tbl>
          </a:graphicData>
        </a:graphic>
      </p:graphicFrame>
      <p:sp>
        <p:nvSpPr>
          <p:cNvPr id="19" name="Slide Number Placeholder 1"/>
          <p:cNvSpPr txBox="1"/>
          <p:nvPr/>
        </p:nvSpPr>
        <p:spPr>
          <a:xfrm>
            <a:off x="4385692" y="6400800"/>
            <a:ext cx="372616" cy="196552"/>
          </a:xfrm>
          <a:prstGeom prst="rect">
            <a:avLst/>
          </a:prstGeom>
          <a:solidFill>
            <a:schemeClr val="bg1"/>
          </a:solidFill>
          <a:ln>
            <a:solidFill>
              <a:schemeClr val="bg1"/>
            </a:solidFill>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48D66A2-BFCA-4667-A1CB-989A033A1578}" type="slidenum">
              <a:rPr lang="en-IN" sz="1200" smtClean="0"/>
              <a:t>3</a:t>
            </a:fld>
            <a:endParaRPr lang="en-IN" sz="1200"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43080" y="625043"/>
            <a:ext cx="8496944" cy="584775"/>
          </a:xfrm>
          <a:prstGeom prst="rect">
            <a:avLst/>
          </a:prstGeom>
          <a:noFill/>
        </p:spPr>
        <p:txBody>
          <a:bodyPr wrap="square" rtlCol="0">
            <a:spAutoFit/>
          </a:bodyPr>
          <a:lstStyle/>
          <a:p>
            <a:r>
              <a:rPr lang="en-IN" sz="3200" b="1" dirty="0" smtClean="0"/>
              <a:t>A* </a:t>
            </a:r>
            <a:r>
              <a:rPr lang="en-IN" sz="3200" b="1" dirty="0" err="1" smtClean="0"/>
              <a:t>Pathfinding</a:t>
            </a:r>
            <a:r>
              <a:rPr lang="en-IN" sz="3200" b="1" dirty="0" smtClean="0"/>
              <a:t> Algorithm</a:t>
            </a:r>
            <a:endParaRPr lang="en-IN" sz="3200" b="1" dirty="0"/>
          </a:p>
        </p:txBody>
      </p:sp>
      <p:sp>
        <p:nvSpPr>
          <p:cNvPr id="3" name="Shape 1"/>
          <p:cNvSpPr/>
          <p:nvPr/>
        </p:nvSpPr>
        <p:spPr>
          <a:xfrm>
            <a:off x="328591" y="1276421"/>
            <a:ext cx="8412480" cy="27432"/>
          </a:xfrm>
          <a:prstGeom prst="rect">
            <a:avLst/>
          </a:prstGeom>
          <a:solidFill>
            <a:schemeClr val="bg1">
              <a:lumMod val="95000"/>
            </a:schemeClr>
          </a:solidFill>
          <a:ln>
            <a:noFill/>
          </a:ln>
        </p:spPr>
      </p:sp>
      <p:sp>
        <p:nvSpPr>
          <p:cNvPr id="5" name="Shape 2"/>
          <p:cNvSpPr/>
          <p:nvPr/>
        </p:nvSpPr>
        <p:spPr>
          <a:xfrm>
            <a:off x="443896" y="1411070"/>
            <a:ext cx="3917519" cy="1992958"/>
          </a:xfrm>
          <a:prstGeom prst="rect">
            <a:avLst/>
          </a:prstGeom>
        </p:spPr>
        <p:style>
          <a:lnRef idx="2">
            <a:schemeClr val="accent2"/>
          </a:lnRef>
          <a:fillRef idx="1">
            <a:schemeClr val="lt1"/>
          </a:fillRef>
          <a:effectRef idx="0">
            <a:schemeClr val="accent2"/>
          </a:effectRef>
          <a:fontRef idx="minor">
            <a:schemeClr val="dk1"/>
          </a:fontRef>
        </p:style>
      </p:sp>
      <p:sp>
        <p:nvSpPr>
          <p:cNvPr id="6" name="Rectangle 5"/>
          <p:cNvSpPr/>
          <p:nvPr/>
        </p:nvSpPr>
        <p:spPr>
          <a:xfrm>
            <a:off x="4723746" y="1391739"/>
            <a:ext cx="4017679" cy="199295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Text 9"/>
          <p:cNvSpPr/>
          <p:nvPr/>
        </p:nvSpPr>
        <p:spPr>
          <a:xfrm>
            <a:off x="4823906" y="1906406"/>
            <a:ext cx="3917519" cy="1063423"/>
          </a:xfrm>
          <a:prstGeom prst="rect">
            <a:avLst/>
          </a:prstGeom>
          <a:noFill/>
        </p:spPr>
        <p:txBody>
          <a:bodyPr wrap="square" rtlCol="0" anchor="ctr"/>
          <a:lstStyle/>
          <a:p>
            <a:pPr algn="ctr">
              <a:spcAft>
                <a:spcPts val="900"/>
              </a:spcAft>
            </a:pPr>
            <a:endParaRPr lang="en-US" sz="2000" b="1" dirty="0" smtClean="0">
              <a:solidFill>
                <a:schemeClr val="tx1">
                  <a:lumMod val="85000"/>
                  <a:lumOff val="15000"/>
                </a:schemeClr>
              </a:solidFill>
            </a:endParaRPr>
          </a:p>
          <a:p>
            <a:pPr algn="ctr">
              <a:spcAft>
                <a:spcPts val="900"/>
              </a:spcAft>
            </a:pPr>
            <a:r>
              <a:rPr lang="en-US" sz="2200" b="1" dirty="0" smtClean="0">
                <a:solidFill>
                  <a:schemeClr val="tx1">
                    <a:lumMod val="85000"/>
                    <a:lumOff val="15000"/>
                  </a:schemeClr>
                </a:solidFill>
                <a:latin typeface="Calibri" panose="020F0502020204030204" pitchFamily="34" charset="0"/>
                <a:ea typeface="Calibri" panose="020F0502020204030204" pitchFamily="34" charset="0"/>
                <a:cs typeface="Calibri" panose="020F0502020204030204" pitchFamily="34" charset="0"/>
              </a:rPr>
              <a:t>h = |x1 – x2| + |y1 – y2|</a:t>
            </a:r>
          </a:p>
          <a:p>
            <a:r>
              <a:rPr lang="en-US" dirty="0" smtClean="0">
                <a:solidFill>
                  <a:schemeClr val="tx1">
                    <a:lumMod val="85000"/>
                    <a:lumOff val="15000"/>
                  </a:schemeClr>
                </a:solidFill>
                <a:latin typeface="Calibri" panose="020F0502020204030204" pitchFamily="34" charset="0"/>
                <a:ea typeface="Calibri" panose="020F0502020204030204" pitchFamily="34" charset="-122"/>
                <a:cs typeface="Calibri" panose="020F0502020204030204" pitchFamily="34" charset="-120"/>
              </a:rPr>
              <a:t>4 </a:t>
            </a:r>
            <a:r>
              <a:rPr lang="en-US" dirty="0">
                <a:solidFill>
                  <a:schemeClr val="tx1">
                    <a:lumMod val="85000"/>
                    <a:lumOff val="15000"/>
                  </a:schemeClr>
                </a:solidFill>
                <a:latin typeface="Calibri" panose="020F0502020204030204" pitchFamily="34" charset="0"/>
                <a:ea typeface="Calibri" panose="020F0502020204030204" pitchFamily="34" charset="-122"/>
                <a:cs typeface="Calibri" panose="020F0502020204030204" pitchFamily="34" charset="-120"/>
              </a:rPr>
              <a:t>– directional movement only (no </a:t>
            </a:r>
            <a:r>
              <a:rPr lang="en-US" dirty="0" smtClean="0">
                <a:solidFill>
                  <a:schemeClr val="tx1">
                    <a:lumMod val="85000"/>
                    <a:lumOff val="15000"/>
                  </a:schemeClr>
                </a:solidFill>
                <a:latin typeface="Calibri" panose="020F0502020204030204" pitchFamily="34" charset="0"/>
                <a:ea typeface="Calibri" panose="020F0502020204030204" pitchFamily="34" charset="-122"/>
                <a:cs typeface="Calibri" panose="020F0502020204030204" pitchFamily="34" charset="-120"/>
              </a:rPr>
              <a:t>diagonal)</a:t>
            </a:r>
          </a:p>
          <a:p>
            <a:pPr algn="ctr">
              <a:spcAft>
                <a:spcPts val="900"/>
              </a:spcAft>
            </a:pPr>
            <a:endParaRPr lang="en-US" sz="2000" dirty="0" smtClean="0"/>
          </a:p>
        </p:txBody>
      </p:sp>
      <p:sp>
        <p:nvSpPr>
          <p:cNvPr id="8" name="Text 4"/>
          <p:cNvSpPr/>
          <p:nvPr/>
        </p:nvSpPr>
        <p:spPr>
          <a:xfrm>
            <a:off x="580553" y="1588738"/>
            <a:ext cx="3644204" cy="170825"/>
          </a:xfrm>
          <a:prstGeom prst="rect">
            <a:avLst/>
          </a:prstGeom>
          <a:noFill/>
        </p:spPr>
        <p:txBody>
          <a:bodyPr wrap="square"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b="1" dirty="0" smtClean="0">
                <a:solidFill>
                  <a:schemeClr val="accent2"/>
                </a:solidFill>
                <a:latin typeface="Calibri" panose="020F0502020204030204" pitchFamily="34" charset="0"/>
                <a:ea typeface="Calibri" panose="020F0502020204030204" pitchFamily="34" charset="-122"/>
                <a:cs typeface="Calibri" panose="020F0502020204030204" pitchFamily="34" charset="-120"/>
              </a:rPr>
              <a:t>A* Cost Function</a:t>
            </a:r>
            <a:endParaRPr lang="en-US" dirty="0">
              <a:solidFill>
                <a:schemeClr val="accent2"/>
              </a:solidFill>
            </a:endParaRPr>
          </a:p>
        </p:txBody>
      </p:sp>
      <p:sp>
        <p:nvSpPr>
          <p:cNvPr id="9" name="Text 5"/>
          <p:cNvSpPr/>
          <p:nvPr/>
        </p:nvSpPr>
        <p:spPr>
          <a:xfrm>
            <a:off x="657218" y="2407549"/>
            <a:ext cx="3453017" cy="996479"/>
          </a:xfrm>
          <a:prstGeom prst="rect">
            <a:avLst/>
          </a:prstGeom>
          <a:noFill/>
        </p:spPr>
        <p:txBody>
          <a:bodyPr wrap="square" rtlCol="0" anchor="t"/>
          <a:lstStyle/>
          <a:p>
            <a:r>
              <a:rPr lang="en-US" dirty="0" smtClean="0">
                <a:solidFill>
                  <a:schemeClr val="tx1">
                    <a:lumMod val="85000"/>
                    <a:lumOff val="15000"/>
                  </a:schemeClr>
                </a:solidFill>
                <a:latin typeface="Calibri" panose="020F0502020204030204" pitchFamily="34" charset="0"/>
                <a:ea typeface="Calibri" panose="020F0502020204030204" pitchFamily="34" charset="-122"/>
                <a:cs typeface="Calibri" panose="020F0502020204030204" pitchFamily="34" charset="-120"/>
              </a:rPr>
              <a:t>g(n) = </a:t>
            </a:r>
            <a:r>
              <a:rPr lang="en-US" dirty="0">
                <a:solidFill>
                  <a:schemeClr val="tx1">
                    <a:lumMod val="85000"/>
                    <a:lumOff val="15000"/>
                  </a:schemeClr>
                </a:solidFill>
                <a:latin typeface="Calibri" panose="020F0502020204030204" pitchFamily="34" charset="0"/>
                <a:ea typeface="Calibri" panose="020F0502020204030204" pitchFamily="34" charset="-122"/>
                <a:cs typeface="Calibri" panose="020F0502020204030204" pitchFamily="34" charset="-120"/>
              </a:rPr>
              <a:t>actual cost from start node to current node</a:t>
            </a:r>
          </a:p>
          <a:p>
            <a:r>
              <a:rPr lang="en-US" dirty="0" smtClean="0">
                <a:solidFill>
                  <a:schemeClr val="tx1">
                    <a:lumMod val="85000"/>
                    <a:lumOff val="15000"/>
                  </a:schemeClr>
                </a:solidFill>
                <a:latin typeface="Calibri" panose="020F0502020204030204" pitchFamily="34" charset="0"/>
                <a:ea typeface="Calibri" panose="020F0502020204030204" pitchFamily="34" charset="-122"/>
                <a:cs typeface="Calibri" panose="020F0502020204030204" pitchFamily="34" charset="-120"/>
              </a:rPr>
              <a:t>h(n) = Manhattan distance to goal</a:t>
            </a:r>
            <a:endParaRPr lang="en-US" dirty="0">
              <a:solidFill>
                <a:schemeClr val="tx1">
                  <a:lumMod val="85000"/>
                  <a:lumOff val="15000"/>
                </a:schemeClr>
              </a:solidFill>
              <a:latin typeface="Calibri" panose="020F0502020204030204" pitchFamily="34" charset="0"/>
              <a:ea typeface="Calibri" panose="020F0502020204030204" pitchFamily="34" charset="-122"/>
              <a:cs typeface="Calibri" panose="020F0502020204030204" pitchFamily="34" charset="-120"/>
            </a:endParaRPr>
          </a:p>
        </p:txBody>
      </p:sp>
      <p:sp>
        <p:nvSpPr>
          <p:cNvPr id="11" name="Rectangle 10"/>
          <p:cNvSpPr/>
          <p:nvPr/>
        </p:nvSpPr>
        <p:spPr>
          <a:xfrm>
            <a:off x="4883229" y="1500867"/>
            <a:ext cx="3857842" cy="369332"/>
          </a:xfrm>
          <a:prstGeom prst="rect">
            <a:avLst/>
          </a:prstGeom>
        </p:spPr>
        <p:txBody>
          <a:bodyPr wrap="square">
            <a:spAutoFit/>
          </a:bodyPr>
          <a:lstStyle/>
          <a:p>
            <a:r>
              <a:rPr lang="en-US" b="1" dirty="0" smtClean="0">
                <a:solidFill>
                  <a:schemeClr val="tx2">
                    <a:lumMod val="60000"/>
                    <a:lumOff val="40000"/>
                  </a:schemeClr>
                </a:solidFill>
                <a:latin typeface="Calibri" panose="020F0502020204030204" pitchFamily="34" charset="0"/>
                <a:ea typeface="Calibri" panose="020F0502020204030204" pitchFamily="34" charset="-122"/>
                <a:cs typeface="Calibri" panose="020F0502020204030204" pitchFamily="34" charset="-120"/>
              </a:rPr>
              <a:t>Manhattan Distance</a:t>
            </a:r>
            <a:endParaRPr lang="en-US" dirty="0">
              <a:solidFill>
                <a:schemeClr val="tx2">
                  <a:lumMod val="60000"/>
                  <a:lumOff val="40000"/>
                </a:schemeClr>
              </a:solidFill>
            </a:endParaRPr>
          </a:p>
        </p:txBody>
      </p:sp>
      <p:sp>
        <p:nvSpPr>
          <p:cNvPr id="13" name="TextBox 12"/>
          <p:cNvSpPr txBox="1"/>
          <p:nvPr/>
        </p:nvSpPr>
        <p:spPr>
          <a:xfrm>
            <a:off x="422492" y="3501008"/>
            <a:ext cx="8338120" cy="2354491"/>
          </a:xfrm>
          <a:prstGeom prst="rect">
            <a:avLst/>
          </a:prstGeom>
          <a:noFill/>
        </p:spPr>
        <p:txBody>
          <a:bodyPr wrap="square" rtlCol="0">
            <a:spAutoFit/>
          </a:bodyPr>
          <a:lstStyle/>
          <a:p>
            <a:pPr marL="285750" indent="-285750">
              <a:lnSpc>
                <a:spcPct val="150000"/>
              </a:lnSpc>
              <a:buFont typeface="Wingdings" panose="05000000000000000000" pitchFamily="2" charset="2"/>
              <a:buChar char="§"/>
            </a:pPr>
            <a:r>
              <a:rPr lang="en-IN" sz="1600" dirty="0" smtClean="0"/>
              <a:t>EVs travel on roads only</a:t>
            </a:r>
            <a:endParaRPr lang="en-IN" sz="1600" dirty="0"/>
          </a:p>
          <a:p>
            <a:pPr marL="285750" indent="-285750">
              <a:lnSpc>
                <a:spcPct val="150000"/>
              </a:lnSpc>
              <a:buFont typeface="Wingdings" panose="05000000000000000000" pitchFamily="2" charset="2"/>
              <a:buChar char="§"/>
            </a:pPr>
            <a:r>
              <a:rPr lang="en-IN" sz="1600" dirty="0" smtClean="0"/>
              <a:t>No path </a:t>
            </a:r>
            <a:r>
              <a:rPr lang="en-IN" sz="1600" dirty="0" smtClean="0">
                <a:sym typeface="Wingdings" panose="05000000000000000000" pitchFamily="2" charset="2"/>
              </a:rPr>
              <a:t> Blocked route dialog displayed, alternate nearby node suggested</a:t>
            </a:r>
          </a:p>
          <a:p>
            <a:pPr>
              <a:lnSpc>
                <a:spcPct val="150000"/>
              </a:lnSpc>
            </a:pPr>
            <a:r>
              <a:rPr lang="en-IN" b="1" dirty="0" smtClean="0">
                <a:sym typeface="Wingdings" panose="05000000000000000000" pitchFamily="2" charset="2"/>
              </a:rPr>
              <a:t>Why A*?</a:t>
            </a:r>
            <a:endParaRPr lang="en-US" sz="1600" dirty="0">
              <a:solidFill>
                <a:prstClr val="black"/>
              </a:solidFill>
            </a:endParaRPr>
          </a:p>
          <a:p>
            <a:pPr marL="285750" lvl="0" indent="-285750">
              <a:lnSpc>
                <a:spcPct val="150000"/>
              </a:lnSpc>
              <a:buFont typeface="Wingdings" panose="05000000000000000000" pitchFamily="2" charset="2"/>
              <a:buChar char="§"/>
            </a:pPr>
            <a:r>
              <a:rPr lang="en-US" sz="1600" dirty="0">
                <a:solidFill>
                  <a:prstClr val="black"/>
                </a:solidFill>
              </a:rPr>
              <a:t>Finds the shortest path </a:t>
            </a:r>
            <a:r>
              <a:rPr lang="en-US" sz="1600" dirty="0" smtClean="0">
                <a:solidFill>
                  <a:prstClr val="black"/>
                </a:solidFill>
              </a:rPr>
              <a:t>efficiently</a:t>
            </a:r>
            <a:endParaRPr lang="en-US" sz="1600" dirty="0">
              <a:solidFill>
                <a:prstClr val="black"/>
              </a:solidFill>
            </a:endParaRPr>
          </a:p>
          <a:p>
            <a:pPr marL="285750" lvl="0" indent="-285750">
              <a:lnSpc>
                <a:spcPct val="150000"/>
              </a:lnSpc>
              <a:buFont typeface="Wingdings" panose="05000000000000000000" pitchFamily="2" charset="2"/>
              <a:buChar char="§"/>
            </a:pPr>
            <a:r>
              <a:rPr lang="en-US" sz="1600" dirty="0">
                <a:solidFill>
                  <a:prstClr val="black"/>
                </a:solidFill>
              </a:rPr>
              <a:t>Uses both: Actual cost (g) </a:t>
            </a:r>
            <a:r>
              <a:rPr lang="en-US" sz="1600" dirty="0" smtClean="0">
                <a:solidFill>
                  <a:prstClr val="black"/>
                </a:solidFill>
              </a:rPr>
              <a:t>and Estimated </a:t>
            </a:r>
            <a:r>
              <a:rPr lang="en-US" sz="1600" dirty="0">
                <a:solidFill>
                  <a:prstClr val="black"/>
                </a:solidFill>
              </a:rPr>
              <a:t>cost (h) </a:t>
            </a:r>
          </a:p>
          <a:p>
            <a:pPr marL="285750" lvl="0" indent="-285750">
              <a:lnSpc>
                <a:spcPct val="150000"/>
              </a:lnSpc>
              <a:buFont typeface="Wingdings" panose="05000000000000000000" pitchFamily="2" charset="2"/>
              <a:buChar char="§"/>
            </a:pPr>
            <a:r>
              <a:rPr lang="en-US" sz="1600" dirty="0" smtClean="0">
                <a:solidFill>
                  <a:prstClr val="black"/>
                </a:solidFill>
              </a:rPr>
              <a:t>Faster than traditional methods like </a:t>
            </a:r>
            <a:r>
              <a:rPr lang="en-US" sz="1600" dirty="0" err="1" smtClean="0">
                <a:solidFill>
                  <a:prstClr val="black"/>
                </a:solidFill>
              </a:rPr>
              <a:t>Dijkstra</a:t>
            </a:r>
            <a:r>
              <a:rPr lang="en-US" sz="1600" dirty="0" smtClean="0">
                <a:solidFill>
                  <a:prstClr val="black"/>
                </a:solidFill>
              </a:rPr>
              <a:t>, BFS, DFS</a:t>
            </a:r>
            <a:endParaRPr lang="en-IN" b="1" dirty="0" smtClean="0"/>
          </a:p>
        </p:txBody>
      </p:sp>
      <p:sp>
        <p:nvSpPr>
          <p:cNvPr id="14" name="Slide Number Placeholder 1"/>
          <p:cNvSpPr txBox="1"/>
          <p:nvPr/>
        </p:nvSpPr>
        <p:spPr>
          <a:xfrm>
            <a:off x="4385692" y="6400800"/>
            <a:ext cx="372616" cy="196552"/>
          </a:xfrm>
          <a:prstGeom prst="rect">
            <a:avLst/>
          </a:prstGeom>
          <a:solidFill>
            <a:schemeClr val="bg1"/>
          </a:solidFill>
          <a:ln>
            <a:solidFill>
              <a:schemeClr val="bg1"/>
            </a:solidFill>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48D66A2-BFCA-4667-A1CB-989A033A1578}" type="slidenum">
              <a:rPr lang="en-IN" sz="1200" smtClean="0"/>
              <a:t>4</a:t>
            </a:fld>
            <a:endParaRPr lang="en-IN" dirty="0"/>
          </a:p>
        </p:txBody>
      </p:sp>
      <p:sp>
        <p:nvSpPr>
          <p:cNvPr id="12" name="TextBox 11"/>
          <p:cNvSpPr txBox="1"/>
          <p:nvPr/>
        </p:nvSpPr>
        <p:spPr>
          <a:xfrm>
            <a:off x="942882" y="1906406"/>
            <a:ext cx="2736304" cy="430887"/>
          </a:xfrm>
          <a:prstGeom prst="rect">
            <a:avLst/>
          </a:prstGeom>
          <a:noFill/>
        </p:spPr>
        <p:txBody>
          <a:bodyPr wrap="square" rtlCol="0">
            <a:spAutoFit/>
          </a:bodyPr>
          <a:lstStyle/>
          <a:p>
            <a:pPr lvl="0" algn="ctr"/>
            <a:r>
              <a:rPr lang="en-US" sz="2200" b="1" dirty="0" smtClean="0">
                <a:solidFill>
                  <a:prstClr val="black">
                    <a:lumMod val="85000"/>
                    <a:lumOff val="15000"/>
                  </a:prstClr>
                </a:solidFill>
                <a:latin typeface="Calibri" panose="020F0502020204030204" pitchFamily="34" charset="0"/>
                <a:ea typeface="Calibri" panose="020F0502020204030204" pitchFamily="34" charset="-122"/>
                <a:cs typeface="Calibri" panose="020F0502020204030204" pitchFamily="34" charset="-120"/>
              </a:rPr>
              <a:t>f(n</a:t>
            </a:r>
            <a:r>
              <a:rPr lang="en-US" sz="2200" b="1" dirty="0">
                <a:solidFill>
                  <a:prstClr val="black">
                    <a:lumMod val="85000"/>
                    <a:lumOff val="15000"/>
                  </a:prstClr>
                </a:solidFill>
                <a:latin typeface="Calibri" panose="020F0502020204030204" pitchFamily="34" charset="0"/>
                <a:ea typeface="Calibri" panose="020F0502020204030204" pitchFamily="34" charset="-122"/>
                <a:cs typeface="Calibri" panose="020F0502020204030204" pitchFamily="34" charset="-120"/>
              </a:rPr>
              <a:t>)=g(n)+h(n)</a:t>
            </a:r>
            <a:endParaRPr lang="en-US" sz="2200" dirty="0">
              <a:solidFill>
                <a:prstClr val="black">
                  <a:lumMod val="85000"/>
                  <a:lumOff val="15000"/>
                </a:prstClr>
              </a:solidFill>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343080" y="625043"/>
            <a:ext cx="8496944" cy="584775"/>
          </a:xfrm>
          <a:prstGeom prst="rect">
            <a:avLst/>
          </a:prstGeom>
          <a:noFill/>
        </p:spPr>
        <p:txBody>
          <a:bodyPr wrap="square" rtlCol="0">
            <a:spAutoFit/>
          </a:bodyPr>
          <a:lstStyle/>
          <a:p>
            <a:r>
              <a:rPr lang="en-IN" sz="3200" b="1" dirty="0" smtClean="0"/>
              <a:t>Key Features</a:t>
            </a:r>
            <a:endParaRPr lang="en-IN" sz="3200" b="1" dirty="0"/>
          </a:p>
        </p:txBody>
      </p:sp>
      <p:sp>
        <p:nvSpPr>
          <p:cNvPr id="6" name="Shape 1"/>
          <p:cNvSpPr/>
          <p:nvPr/>
        </p:nvSpPr>
        <p:spPr>
          <a:xfrm>
            <a:off x="336790" y="1188730"/>
            <a:ext cx="8412547" cy="60416"/>
          </a:xfrm>
          <a:prstGeom prst="rect">
            <a:avLst/>
          </a:prstGeom>
          <a:solidFill>
            <a:schemeClr val="bg1">
              <a:lumMod val="95000"/>
            </a:schemeClr>
          </a:solidFill>
          <a:ln>
            <a:noFill/>
          </a:ln>
        </p:spPr>
      </p:sp>
      <p:sp>
        <p:nvSpPr>
          <p:cNvPr id="7" name="TextBox 6"/>
          <p:cNvSpPr txBox="1"/>
          <p:nvPr/>
        </p:nvSpPr>
        <p:spPr>
          <a:xfrm>
            <a:off x="180368" y="1542016"/>
            <a:ext cx="4286323" cy="2032487"/>
          </a:xfrm>
          <a:prstGeom prst="rect">
            <a:avLst/>
          </a:prstGeom>
          <a:noFill/>
        </p:spPr>
        <p:txBody>
          <a:bodyPr wrap="square" rtlCol="0">
            <a:spAutoFit/>
          </a:bodyPr>
          <a:lstStyle/>
          <a:p>
            <a:endParaRPr lang="en-IN" dirty="0"/>
          </a:p>
        </p:txBody>
      </p:sp>
      <p:sp>
        <p:nvSpPr>
          <p:cNvPr id="8" name="TextBox 7"/>
          <p:cNvSpPr txBox="1"/>
          <p:nvPr/>
        </p:nvSpPr>
        <p:spPr>
          <a:xfrm>
            <a:off x="4596746" y="1509751"/>
            <a:ext cx="4251634" cy="1600438"/>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IN" dirty="0" smtClean="0">
                <a:solidFill>
                  <a:schemeClr val="accent2"/>
                </a:solidFill>
              </a:rPr>
              <a:t>Priority Order Scheduling</a:t>
            </a:r>
          </a:p>
          <a:p>
            <a:pPr marL="285750" indent="-285750">
              <a:buFont typeface="Arial" panose="020B0604020202020204" pitchFamily="34" charset="0"/>
              <a:buChar char="•"/>
            </a:pPr>
            <a:endParaRPr lang="en-IN" sz="1600" dirty="0" smtClean="0">
              <a:solidFill>
                <a:schemeClr val="tx1">
                  <a:lumMod val="85000"/>
                  <a:lumOff val="15000"/>
                </a:schemeClr>
              </a:solidFill>
            </a:endParaRPr>
          </a:p>
          <a:p>
            <a:pPr marL="285750" indent="-285750">
              <a:buFont typeface="Arial" panose="020B0604020202020204" pitchFamily="34" charset="0"/>
              <a:buChar char="•"/>
            </a:pPr>
            <a:r>
              <a:rPr lang="en-IN" sz="1600" dirty="0" smtClean="0">
                <a:solidFill>
                  <a:schemeClr val="tx1">
                    <a:lumMod val="85000"/>
                    <a:lumOff val="15000"/>
                  </a:schemeClr>
                </a:solidFill>
              </a:rPr>
              <a:t>Express (Red) – highest priority</a:t>
            </a:r>
          </a:p>
          <a:p>
            <a:pPr marL="285750" indent="-285750">
              <a:buFont typeface="Arial" panose="020B0604020202020204" pitchFamily="34" charset="0"/>
              <a:buChar char="•"/>
            </a:pPr>
            <a:r>
              <a:rPr lang="en-IN" sz="1600" dirty="0" smtClean="0">
                <a:solidFill>
                  <a:schemeClr val="tx1">
                    <a:lumMod val="85000"/>
                    <a:lumOff val="15000"/>
                  </a:schemeClr>
                </a:solidFill>
              </a:rPr>
              <a:t>Standard (Green) – normal queue + aging</a:t>
            </a:r>
          </a:p>
          <a:p>
            <a:pPr marL="285750" indent="-285750">
              <a:buFont typeface="Arial" panose="020B0604020202020204" pitchFamily="34" charset="0"/>
              <a:buChar char="•"/>
            </a:pPr>
            <a:r>
              <a:rPr lang="en-IN" sz="1600" dirty="0" smtClean="0">
                <a:solidFill>
                  <a:schemeClr val="tx1">
                    <a:lumMod val="85000"/>
                    <a:lumOff val="15000"/>
                  </a:schemeClr>
                </a:solidFill>
              </a:rPr>
              <a:t>Scheduled (Blue) – activates at specified time</a:t>
            </a:r>
          </a:p>
        </p:txBody>
      </p:sp>
      <p:sp>
        <p:nvSpPr>
          <p:cNvPr id="9" name="TextBox 8"/>
          <p:cNvSpPr txBox="1"/>
          <p:nvPr/>
        </p:nvSpPr>
        <p:spPr>
          <a:xfrm>
            <a:off x="332619" y="1509751"/>
            <a:ext cx="4133921" cy="1631216"/>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IN" dirty="0" smtClean="0">
                <a:solidFill>
                  <a:schemeClr val="tx2"/>
                </a:solidFill>
              </a:rPr>
              <a:t>Battery Management </a:t>
            </a:r>
          </a:p>
          <a:p>
            <a:endParaRPr lang="en-IN" dirty="0" smtClean="0">
              <a:solidFill>
                <a:schemeClr val="tx2"/>
              </a:solidFill>
            </a:endParaRPr>
          </a:p>
          <a:p>
            <a:pPr marL="285750" indent="-285750">
              <a:buFont typeface="Arial" panose="020B0604020202020204" pitchFamily="34" charset="0"/>
              <a:buChar char="•"/>
            </a:pPr>
            <a:r>
              <a:rPr lang="en-IN" sz="1600" dirty="0"/>
              <a:t>Battery </a:t>
            </a:r>
            <a:r>
              <a:rPr lang="en-IN" sz="1600" dirty="0">
                <a:solidFill>
                  <a:schemeClr val="tx1">
                    <a:lumMod val="85000"/>
                    <a:lumOff val="15000"/>
                  </a:schemeClr>
                </a:solidFill>
              </a:rPr>
              <a:t>d</a:t>
            </a:r>
            <a:r>
              <a:rPr lang="en-IN" sz="1600" dirty="0" smtClean="0">
                <a:solidFill>
                  <a:schemeClr val="tx1">
                    <a:lumMod val="85000"/>
                    <a:lumOff val="15000"/>
                  </a:schemeClr>
                </a:solidFill>
              </a:rPr>
              <a:t>ecreases 1 unit per cell </a:t>
            </a:r>
          </a:p>
          <a:p>
            <a:pPr marL="285750" indent="-285750">
              <a:buFont typeface="Arial" panose="020B0604020202020204" pitchFamily="34" charset="0"/>
              <a:buChar char="•"/>
            </a:pPr>
            <a:r>
              <a:rPr lang="en-IN" sz="1600" dirty="0" smtClean="0">
                <a:solidFill>
                  <a:schemeClr val="tx1">
                    <a:lumMod val="85000"/>
                    <a:lumOff val="15000"/>
                  </a:schemeClr>
                </a:solidFill>
              </a:rPr>
              <a:t>If charge &lt; 25 units auto reroute to charger</a:t>
            </a:r>
          </a:p>
          <a:p>
            <a:pPr marL="285750" indent="-285750">
              <a:buFont typeface="Arial" panose="020B0604020202020204" pitchFamily="34" charset="0"/>
              <a:buChar char="•"/>
            </a:pPr>
            <a:r>
              <a:rPr lang="en-IN" sz="1600" dirty="0" smtClean="0">
                <a:solidFill>
                  <a:schemeClr val="tx1">
                    <a:lumMod val="85000"/>
                    <a:lumOff val="15000"/>
                  </a:schemeClr>
                </a:solidFill>
              </a:rPr>
              <a:t>If stranded, orders added back to queue</a:t>
            </a:r>
          </a:p>
        </p:txBody>
      </p:sp>
      <p:sp>
        <p:nvSpPr>
          <p:cNvPr id="10" name="TextBox 9"/>
          <p:cNvSpPr txBox="1"/>
          <p:nvPr/>
        </p:nvSpPr>
        <p:spPr>
          <a:xfrm>
            <a:off x="176190" y="3053276"/>
            <a:ext cx="4286323" cy="2032487"/>
          </a:xfrm>
          <a:prstGeom prst="rect">
            <a:avLst/>
          </a:prstGeom>
          <a:noFill/>
        </p:spPr>
        <p:txBody>
          <a:bodyPr wrap="square" rtlCol="0">
            <a:spAutoFit/>
          </a:bodyPr>
          <a:lstStyle/>
          <a:p>
            <a:endParaRPr lang="en-IN" dirty="0"/>
          </a:p>
        </p:txBody>
      </p:sp>
      <p:sp>
        <p:nvSpPr>
          <p:cNvPr id="11" name="TextBox 10"/>
          <p:cNvSpPr txBox="1"/>
          <p:nvPr/>
        </p:nvSpPr>
        <p:spPr>
          <a:xfrm>
            <a:off x="4588390" y="3212976"/>
            <a:ext cx="4251634" cy="1600438"/>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IN" dirty="0" smtClean="0">
                <a:solidFill>
                  <a:schemeClr val="tx2"/>
                </a:solidFill>
              </a:rPr>
              <a:t>Auto &amp; Manual Modes</a:t>
            </a:r>
          </a:p>
          <a:p>
            <a:endParaRPr lang="en-IN" sz="1600" dirty="0" smtClean="0">
              <a:solidFill>
                <a:schemeClr val="tx1">
                  <a:lumMod val="85000"/>
                  <a:lumOff val="15000"/>
                </a:schemeClr>
              </a:solidFill>
            </a:endParaRPr>
          </a:p>
          <a:p>
            <a:pPr marL="285750" indent="-285750">
              <a:buFont typeface="Arial" panose="020B0604020202020204" pitchFamily="34" charset="0"/>
              <a:buChar char="•"/>
            </a:pPr>
            <a:r>
              <a:rPr lang="en-IN" sz="1600" dirty="0" smtClean="0">
                <a:solidFill>
                  <a:schemeClr val="tx1">
                    <a:lumMod val="85000"/>
                    <a:lumOff val="15000"/>
                  </a:schemeClr>
                </a:solidFill>
              </a:rPr>
              <a:t>Auto : Orders generated randomly</a:t>
            </a:r>
          </a:p>
          <a:p>
            <a:pPr marL="285750" indent="-285750">
              <a:buFont typeface="Arial" panose="020B0604020202020204" pitchFamily="34" charset="0"/>
              <a:buChar char="•"/>
            </a:pPr>
            <a:r>
              <a:rPr lang="en-IN" sz="1600" dirty="0" smtClean="0">
                <a:solidFill>
                  <a:schemeClr val="tx1">
                    <a:lumMod val="85000"/>
                    <a:lumOff val="15000"/>
                  </a:schemeClr>
                </a:solidFill>
              </a:rPr>
              <a:t>Manual : User clicks a house to place an order. Select delivery type: Express / Standard / Scheduled</a:t>
            </a:r>
          </a:p>
        </p:txBody>
      </p:sp>
      <p:sp>
        <p:nvSpPr>
          <p:cNvPr id="12" name="TextBox 11"/>
          <p:cNvSpPr txBox="1"/>
          <p:nvPr/>
        </p:nvSpPr>
        <p:spPr>
          <a:xfrm>
            <a:off x="328447" y="3212976"/>
            <a:ext cx="4138098" cy="1631216"/>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IN" dirty="0" smtClean="0">
                <a:solidFill>
                  <a:schemeClr val="accent2"/>
                </a:solidFill>
              </a:rPr>
              <a:t>Order Batching</a:t>
            </a:r>
          </a:p>
          <a:p>
            <a:endParaRPr lang="en-IN" dirty="0" smtClean="0">
              <a:solidFill>
                <a:schemeClr val="accent2"/>
              </a:solidFill>
            </a:endParaRPr>
          </a:p>
          <a:p>
            <a:pPr marL="285750" indent="-285750">
              <a:buFont typeface="Arial" panose="020B0604020202020204" pitchFamily="34" charset="0"/>
              <a:buChar char="•"/>
            </a:pPr>
            <a:r>
              <a:rPr lang="en-IN" sz="1600" dirty="0" smtClean="0">
                <a:solidFill>
                  <a:schemeClr val="tx1">
                    <a:lumMod val="85000"/>
                    <a:lumOff val="15000"/>
                  </a:schemeClr>
                </a:solidFill>
              </a:rPr>
              <a:t>Groups </a:t>
            </a:r>
            <a:r>
              <a:rPr lang="en-US" sz="1600" dirty="0"/>
              <a:t>up to 5 nearby </a:t>
            </a:r>
            <a:r>
              <a:rPr lang="en-US" sz="1600" dirty="0" smtClean="0"/>
              <a:t>orders</a:t>
            </a:r>
          </a:p>
          <a:p>
            <a:pPr marL="285750" indent="-285750">
              <a:buFont typeface="Arial" panose="020B0604020202020204" pitchFamily="34" charset="0"/>
              <a:buChar char="•"/>
            </a:pPr>
            <a:r>
              <a:rPr lang="en-IN" sz="1600" dirty="0" smtClean="0">
                <a:solidFill>
                  <a:schemeClr val="tx1">
                    <a:lumMod val="85000"/>
                    <a:lumOff val="15000"/>
                  </a:schemeClr>
                </a:solidFill>
              </a:rPr>
              <a:t>Queue re-sorted during each assignment</a:t>
            </a:r>
          </a:p>
          <a:p>
            <a:pPr marL="285750" indent="-285750">
              <a:buFont typeface="Arial" panose="020B0604020202020204" pitchFamily="34" charset="0"/>
              <a:buChar char="•"/>
            </a:pPr>
            <a:r>
              <a:rPr lang="en-IN" sz="1600" dirty="0" smtClean="0">
                <a:solidFill>
                  <a:schemeClr val="tx1">
                    <a:lumMod val="85000"/>
                    <a:lumOff val="15000"/>
                  </a:schemeClr>
                </a:solidFill>
              </a:rPr>
              <a:t>Reduces total travel distance and time</a:t>
            </a:r>
          </a:p>
        </p:txBody>
      </p:sp>
      <p:sp>
        <p:nvSpPr>
          <p:cNvPr id="13" name="Slide Number Placeholder 1"/>
          <p:cNvSpPr txBox="1"/>
          <p:nvPr/>
        </p:nvSpPr>
        <p:spPr>
          <a:xfrm>
            <a:off x="4385692" y="6400800"/>
            <a:ext cx="372616" cy="196552"/>
          </a:xfrm>
          <a:prstGeom prst="rect">
            <a:avLst/>
          </a:prstGeom>
          <a:solidFill>
            <a:schemeClr val="bg1"/>
          </a:solidFill>
          <a:ln>
            <a:solidFill>
              <a:schemeClr val="bg1"/>
            </a:solidFill>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48D66A2-BFCA-4667-A1CB-989A033A1578}" type="slidenum">
              <a:rPr lang="en-IN" sz="1200" smtClean="0"/>
              <a:t>5</a:t>
            </a:fld>
            <a:endParaRPr lang="en-IN" dirty="0"/>
          </a:p>
        </p:txBody>
      </p:sp>
      <p:sp>
        <p:nvSpPr>
          <p:cNvPr id="14" name="TextBox 13"/>
          <p:cNvSpPr txBox="1"/>
          <p:nvPr/>
        </p:nvSpPr>
        <p:spPr>
          <a:xfrm>
            <a:off x="2502951" y="5013176"/>
            <a:ext cx="4138098" cy="1354217"/>
          </a:xfrm>
          <a:prstGeom prst="rect">
            <a:avLst/>
          </a:prstGeom>
          <a:ln>
            <a:solidFill>
              <a:schemeClr val="accent4"/>
            </a:solidFill>
          </a:ln>
        </p:spPr>
        <p:style>
          <a:lnRef idx="2">
            <a:schemeClr val="accent2"/>
          </a:lnRef>
          <a:fillRef idx="1">
            <a:schemeClr val="lt1"/>
          </a:fillRef>
          <a:effectRef idx="0">
            <a:schemeClr val="accent2"/>
          </a:effectRef>
          <a:fontRef idx="minor">
            <a:schemeClr val="dk1"/>
          </a:fontRef>
        </p:style>
        <p:txBody>
          <a:bodyPr wrap="square" rtlCol="0">
            <a:spAutoFit/>
          </a:bodyPr>
          <a:lstStyle/>
          <a:p>
            <a:pPr lvl="0"/>
            <a:r>
              <a:rPr lang="en-US" dirty="0">
                <a:solidFill>
                  <a:srgbClr val="8064A2"/>
                </a:solidFill>
              </a:rPr>
              <a:t>Aging </a:t>
            </a:r>
            <a:r>
              <a:rPr lang="en-US" dirty="0" smtClean="0">
                <a:solidFill>
                  <a:srgbClr val="8064A2"/>
                </a:solidFill>
              </a:rPr>
              <a:t>Mechanism</a:t>
            </a:r>
            <a:endParaRPr lang="en-US" dirty="0">
              <a:solidFill>
                <a:srgbClr val="8064A2"/>
              </a:solidFill>
            </a:endParaRPr>
          </a:p>
          <a:p>
            <a:pPr marL="285750" lvl="0" indent="-285750">
              <a:buFont typeface="Arial" panose="020B0604020202020204" pitchFamily="34" charset="0"/>
              <a:buChar char="•"/>
            </a:pPr>
            <a:endParaRPr lang="en-US" sz="1600" dirty="0" smtClean="0">
              <a:solidFill>
                <a:prstClr val="black"/>
              </a:solidFill>
            </a:endParaRPr>
          </a:p>
          <a:p>
            <a:pPr marL="285750" lvl="0" indent="-285750">
              <a:buFont typeface="Arial" panose="020B0604020202020204" pitchFamily="34" charset="0"/>
              <a:buChar char="•"/>
            </a:pPr>
            <a:r>
              <a:rPr lang="en-US" sz="1600" dirty="0" smtClean="0">
                <a:solidFill>
                  <a:prstClr val="black"/>
                </a:solidFill>
              </a:rPr>
              <a:t>Priority </a:t>
            </a:r>
            <a:r>
              <a:rPr lang="en-US" sz="1600" dirty="0">
                <a:solidFill>
                  <a:prstClr val="black"/>
                </a:solidFill>
              </a:rPr>
              <a:t>increases as waiting time increases </a:t>
            </a:r>
          </a:p>
          <a:p>
            <a:pPr marL="285750" lvl="0" indent="-285750">
              <a:buFont typeface="Arial" panose="020B0604020202020204" pitchFamily="34" charset="0"/>
              <a:buChar char="•"/>
            </a:pPr>
            <a:r>
              <a:rPr lang="en-US" sz="1600" dirty="0">
                <a:solidFill>
                  <a:prstClr val="black"/>
                </a:solidFill>
              </a:rPr>
              <a:t>Ensures no order is </a:t>
            </a:r>
            <a:r>
              <a:rPr lang="en-US" sz="1600" dirty="0" smtClean="0">
                <a:solidFill>
                  <a:prstClr val="black"/>
                </a:solidFill>
              </a:rPr>
              <a:t>delayed</a:t>
            </a:r>
            <a:endParaRPr lang="en-US" sz="1600" dirty="0">
              <a:solidFill>
                <a:prstClr val="black"/>
              </a:solidFill>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43080" y="625043"/>
            <a:ext cx="8496944" cy="584775"/>
          </a:xfrm>
          <a:prstGeom prst="rect">
            <a:avLst/>
          </a:prstGeom>
          <a:noFill/>
        </p:spPr>
        <p:txBody>
          <a:bodyPr wrap="square" rtlCol="0">
            <a:spAutoFit/>
          </a:bodyPr>
          <a:lstStyle/>
          <a:p>
            <a:r>
              <a:rPr lang="en-IN" sz="3200" b="1" dirty="0" smtClean="0"/>
              <a:t>Simulation - Demo</a:t>
            </a:r>
            <a:endParaRPr lang="en-IN" sz="3200" b="1" dirty="0"/>
          </a:p>
        </p:txBody>
      </p:sp>
      <p:sp>
        <p:nvSpPr>
          <p:cNvPr id="3" name="Shape 1"/>
          <p:cNvSpPr/>
          <p:nvPr/>
        </p:nvSpPr>
        <p:spPr>
          <a:xfrm>
            <a:off x="328591" y="1276421"/>
            <a:ext cx="8412480" cy="27432"/>
          </a:xfrm>
          <a:prstGeom prst="rect">
            <a:avLst/>
          </a:prstGeom>
          <a:solidFill>
            <a:schemeClr val="bg1">
              <a:lumMod val="95000"/>
            </a:schemeClr>
          </a:solidFill>
          <a:ln>
            <a:noFill/>
          </a:ln>
        </p:spPr>
      </p:sp>
      <p:sp>
        <p:nvSpPr>
          <p:cNvPr id="4" name="TextBox 3"/>
          <p:cNvSpPr txBox="1"/>
          <p:nvPr/>
        </p:nvSpPr>
        <p:spPr>
          <a:xfrm>
            <a:off x="309039" y="1646973"/>
            <a:ext cx="4159457" cy="194676"/>
          </a:xfrm>
          <a:prstGeom prst="rect">
            <a:avLst/>
          </a:prstGeom>
          <a:noFill/>
        </p:spPr>
        <p:txBody>
          <a:bodyPr wrap="square" rtlCol="0">
            <a:spAutoFit/>
          </a:bodyPr>
          <a:lstStyle/>
          <a:p>
            <a:endParaRPr lang="en-IN" dirty="0"/>
          </a:p>
        </p:txBody>
      </p:sp>
      <p:sp>
        <p:nvSpPr>
          <p:cNvPr id="12" name="TextBox 11"/>
          <p:cNvSpPr txBox="1"/>
          <p:nvPr/>
        </p:nvSpPr>
        <p:spPr>
          <a:xfrm>
            <a:off x="284982" y="6168097"/>
            <a:ext cx="8494641" cy="276999"/>
          </a:xfrm>
          <a:prstGeom prst="rect">
            <a:avLst/>
          </a:prstGeom>
          <a:noFill/>
        </p:spPr>
        <p:txBody>
          <a:bodyPr wrap="square" rtlCol="0">
            <a:spAutoFit/>
          </a:bodyPr>
          <a:lstStyle/>
          <a:p>
            <a:pPr algn="ctr"/>
            <a:r>
              <a:rPr lang="en-IN" sz="1200" dirty="0" smtClean="0">
                <a:solidFill>
                  <a:schemeClr val="tx1">
                    <a:lumMod val="85000"/>
                    <a:lumOff val="15000"/>
                  </a:schemeClr>
                </a:solidFill>
              </a:rPr>
              <a:t>WH – Warehouse | C – Charger | Coloured pins – order type | Circles – EVs | Numbered cells - Houses</a:t>
            </a:r>
            <a:endParaRPr lang="en-IN" sz="1200" dirty="0">
              <a:solidFill>
                <a:schemeClr val="tx1">
                  <a:lumMod val="85000"/>
                  <a:lumOff val="15000"/>
                </a:schemeClr>
              </a:solidFill>
            </a:endParaRPr>
          </a:p>
        </p:txBody>
      </p:sp>
      <p:sp>
        <p:nvSpPr>
          <p:cNvPr id="17" name="TextBox 16"/>
          <p:cNvSpPr txBox="1"/>
          <p:nvPr/>
        </p:nvSpPr>
        <p:spPr>
          <a:xfrm>
            <a:off x="201750" y="5651303"/>
            <a:ext cx="8779604" cy="276999"/>
          </a:xfrm>
          <a:prstGeom prst="rect">
            <a:avLst/>
          </a:prstGeom>
          <a:ln w="28575"/>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IN" sz="1200" b="1" dirty="0" smtClean="0">
                <a:solidFill>
                  <a:schemeClr val="accent2"/>
                </a:solidFill>
              </a:rPr>
              <a:t>AUTO mode  - EV-1 low battery(21%) | EV </a:t>
            </a:r>
            <a:r>
              <a:rPr lang="en-IN" sz="1200" b="1" dirty="0">
                <a:solidFill>
                  <a:schemeClr val="accent2"/>
                </a:solidFill>
              </a:rPr>
              <a:t>– </a:t>
            </a:r>
            <a:r>
              <a:rPr lang="en-IN" sz="1200" b="1" dirty="0" smtClean="0">
                <a:solidFill>
                  <a:schemeClr val="accent2"/>
                </a:solidFill>
              </a:rPr>
              <a:t>3, </a:t>
            </a:r>
            <a:r>
              <a:rPr lang="en-IN" sz="1200" b="1" dirty="0">
                <a:solidFill>
                  <a:schemeClr val="accent2"/>
                </a:solidFill>
              </a:rPr>
              <a:t>EV – </a:t>
            </a:r>
            <a:r>
              <a:rPr lang="en-IN" sz="1200" b="1" dirty="0" smtClean="0">
                <a:solidFill>
                  <a:schemeClr val="accent2"/>
                </a:solidFill>
              </a:rPr>
              <a:t>2 delivering Standard orders</a:t>
            </a:r>
            <a:endParaRPr lang="en-IN" sz="1100" b="1" dirty="0" smtClean="0">
              <a:solidFill>
                <a:schemeClr val="accent2"/>
              </a:solidFill>
            </a:endParaRPr>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1750" y="1412776"/>
            <a:ext cx="8790121" cy="4238527"/>
          </a:xfrm>
          <a:prstGeom prst="rect">
            <a:avLst/>
          </a:prstGeom>
          <a:solidFill>
            <a:schemeClr val="accent2"/>
          </a:solidFill>
          <a:ln w="12700">
            <a:solidFill>
              <a:schemeClr val="accent2"/>
            </a:solidFill>
          </a:ln>
        </p:spPr>
      </p:pic>
      <p:sp>
        <p:nvSpPr>
          <p:cNvPr id="8" name="Slide Number Placeholder 1"/>
          <p:cNvSpPr txBox="1"/>
          <p:nvPr/>
        </p:nvSpPr>
        <p:spPr>
          <a:xfrm>
            <a:off x="4385692" y="6400800"/>
            <a:ext cx="372616" cy="196552"/>
          </a:xfrm>
          <a:prstGeom prst="rect">
            <a:avLst/>
          </a:prstGeom>
          <a:solidFill>
            <a:schemeClr val="bg1"/>
          </a:solidFill>
          <a:ln>
            <a:solidFill>
              <a:schemeClr val="bg1"/>
            </a:solidFill>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48D66A2-BFCA-4667-A1CB-989A033A1578}" type="slidenum">
              <a:rPr lang="en-IN" sz="1200" smtClean="0"/>
              <a:t>6</a:t>
            </a:fld>
            <a:endParaRPr lang="en-IN"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43080" y="625043"/>
            <a:ext cx="8496944" cy="584775"/>
          </a:xfrm>
          <a:prstGeom prst="rect">
            <a:avLst/>
          </a:prstGeom>
          <a:noFill/>
        </p:spPr>
        <p:txBody>
          <a:bodyPr wrap="square" rtlCol="0">
            <a:spAutoFit/>
          </a:bodyPr>
          <a:lstStyle/>
          <a:p>
            <a:r>
              <a:rPr lang="en-IN" sz="3200" b="1" dirty="0" smtClean="0"/>
              <a:t>Simulation - Demo</a:t>
            </a:r>
            <a:endParaRPr lang="en-IN" sz="3200" b="1" dirty="0"/>
          </a:p>
        </p:txBody>
      </p:sp>
      <p:sp>
        <p:nvSpPr>
          <p:cNvPr id="3" name="Shape 1"/>
          <p:cNvSpPr/>
          <p:nvPr/>
        </p:nvSpPr>
        <p:spPr>
          <a:xfrm>
            <a:off x="328591" y="1276421"/>
            <a:ext cx="8412480" cy="27432"/>
          </a:xfrm>
          <a:prstGeom prst="rect">
            <a:avLst/>
          </a:prstGeom>
          <a:solidFill>
            <a:schemeClr val="bg1">
              <a:lumMod val="95000"/>
            </a:schemeClr>
          </a:solidFill>
          <a:ln>
            <a:noFill/>
          </a:ln>
        </p:spPr>
      </p:sp>
      <p:sp>
        <p:nvSpPr>
          <p:cNvPr id="12" name="TextBox 11"/>
          <p:cNvSpPr txBox="1"/>
          <p:nvPr/>
        </p:nvSpPr>
        <p:spPr>
          <a:xfrm>
            <a:off x="284982" y="6131223"/>
            <a:ext cx="8494641" cy="276999"/>
          </a:xfrm>
          <a:prstGeom prst="rect">
            <a:avLst/>
          </a:prstGeom>
          <a:noFill/>
        </p:spPr>
        <p:txBody>
          <a:bodyPr wrap="square" rtlCol="0">
            <a:spAutoFit/>
          </a:bodyPr>
          <a:lstStyle/>
          <a:p>
            <a:pPr algn="ctr"/>
            <a:r>
              <a:rPr lang="en-IN" sz="1200" dirty="0" smtClean="0">
                <a:solidFill>
                  <a:schemeClr val="tx1">
                    <a:lumMod val="85000"/>
                    <a:lumOff val="15000"/>
                  </a:schemeClr>
                </a:solidFill>
              </a:rPr>
              <a:t>WH – Warehouse | C – Charger | Coloured pins – order type | Circles – EVs | Numbered cells - Houses</a:t>
            </a:r>
            <a:endParaRPr lang="en-IN" sz="1200" dirty="0">
              <a:solidFill>
                <a:schemeClr val="tx1">
                  <a:lumMod val="85000"/>
                  <a:lumOff val="15000"/>
                </a:schemeClr>
              </a:solidFill>
            </a:endParaRPr>
          </a:p>
        </p:txBody>
      </p:sp>
      <p:sp>
        <p:nvSpPr>
          <p:cNvPr id="17" name="TextBox 16"/>
          <p:cNvSpPr txBox="1"/>
          <p:nvPr/>
        </p:nvSpPr>
        <p:spPr>
          <a:xfrm>
            <a:off x="204040" y="5725592"/>
            <a:ext cx="8779604" cy="261610"/>
          </a:xfrm>
          <a:prstGeom prst="rect">
            <a:avLst/>
          </a:prstGeom>
          <a:ln w="28575">
            <a:solidFill>
              <a:schemeClr val="tx2"/>
            </a:solidFill>
          </a:ln>
        </p:spPr>
        <p:style>
          <a:lnRef idx="2">
            <a:schemeClr val="accent2"/>
          </a:lnRef>
          <a:fillRef idx="1">
            <a:schemeClr val="lt1"/>
          </a:fillRef>
          <a:effectRef idx="0">
            <a:schemeClr val="accent2"/>
          </a:effectRef>
          <a:fontRef idx="minor">
            <a:schemeClr val="dk1"/>
          </a:fontRef>
        </p:style>
        <p:txBody>
          <a:bodyPr wrap="square" rtlCol="0">
            <a:spAutoFit/>
          </a:bodyPr>
          <a:lstStyle/>
          <a:p>
            <a:pPr lvl="0" algn="ctr"/>
            <a:r>
              <a:rPr lang="en-IN" sz="1100" b="1" dirty="0">
                <a:solidFill>
                  <a:srgbClr val="696464"/>
                </a:solidFill>
              </a:rPr>
              <a:t>MANUAL mode – </a:t>
            </a:r>
            <a:r>
              <a:rPr lang="en-IN" sz="1100" b="1" dirty="0" smtClean="0">
                <a:solidFill>
                  <a:srgbClr val="696464"/>
                </a:solidFill>
              </a:rPr>
              <a:t>EV-1 IDLE at Warehouse| </a:t>
            </a:r>
            <a:r>
              <a:rPr lang="en-IN" sz="1100" b="1" dirty="0">
                <a:solidFill>
                  <a:srgbClr val="696464"/>
                </a:solidFill>
              </a:rPr>
              <a:t>EV – 3, EV – 2 </a:t>
            </a:r>
            <a:r>
              <a:rPr lang="en-IN" sz="1100" b="1" dirty="0" smtClean="0">
                <a:solidFill>
                  <a:srgbClr val="696464"/>
                </a:solidFill>
              </a:rPr>
              <a:t>delivering orders</a:t>
            </a:r>
            <a:endParaRPr lang="en-IN" sz="1050" b="1" dirty="0">
              <a:solidFill>
                <a:prstClr val="black">
                  <a:lumMod val="85000"/>
                  <a:lumOff val="15000"/>
                </a:prstClr>
              </a:solidFill>
            </a:endParaRPr>
          </a:p>
        </p:txBody>
      </p:sp>
      <p:pic>
        <p:nvPicPr>
          <p:cNvPr id="10"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4040" y="1401897"/>
            <a:ext cx="8779604" cy="4313553"/>
          </a:xfrm>
          <a:prstGeom prst="rect">
            <a:avLst/>
          </a:prstGeom>
          <a:noFill/>
          <a:ln w="12700">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Slide Number Placeholder 1"/>
          <p:cNvSpPr txBox="1"/>
          <p:nvPr/>
        </p:nvSpPr>
        <p:spPr>
          <a:xfrm>
            <a:off x="4385692" y="6400800"/>
            <a:ext cx="372616" cy="196552"/>
          </a:xfrm>
          <a:prstGeom prst="rect">
            <a:avLst/>
          </a:prstGeom>
          <a:solidFill>
            <a:schemeClr val="bg1"/>
          </a:solidFill>
          <a:ln>
            <a:solidFill>
              <a:schemeClr val="bg1"/>
            </a:solidFill>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48D66A2-BFCA-4667-A1CB-989A033A1578}" type="slidenum">
              <a:rPr lang="en-IN" sz="1200" smtClean="0"/>
              <a:t>7</a:t>
            </a:fld>
            <a:endParaRPr lang="en-IN"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43080" y="625043"/>
            <a:ext cx="8496944" cy="584775"/>
          </a:xfrm>
          <a:prstGeom prst="rect">
            <a:avLst/>
          </a:prstGeom>
          <a:noFill/>
        </p:spPr>
        <p:txBody>
          <a:bodyPr wrap="square" rtlCol="0">
            <a:spAutoFit/>
          </a:bodyPr>
          <a:lstStyle/>
          <a:p>
            <a:r>
              <a:rPr lang="en-IN" sz="3200" b="1" dirty="0" smtClean="0"/>
              <a:t>Results</a:t>
            </a:r>
            <a:endParaRPr lang="en-IN" sz="3200" b="1" dirty="0"/>
          </a:p>
        </p:txBody>
      </p:sp>
      <p:sp>
        <p:nvSpPr>
          <p:cNvPr id="3" name="Shape 1"/>
          <p:cNvSpPr/>
          <p:nvPr/>
        </p:nvSpPr>
        <p:spPr>
          <a:xfrm>
            <a:off x="328591" y="1276421"/>
            <a:ext cx="8412480" cy="27432"/>
          </a:xfrm>
          <a:prstGeom prst="rect">
            <a:avLst/>
          </a:prstGeom>
          <a:solidFill>
            <a:schemeClr val="bg1">
              <a:lumMod val="95000"/>
            </a:schemeClr>
          </a:solidFill>
          <a:ln>
            <a:noFill/>
          </a:ln>
        </p:spPr>
      </p:sp>
      <p:sp>
        <p:nvSpPr>
          <p:cNvPr id="4" name="TextBox 3"/>
          <p:cNvSpPr txBox="1"/>
          <p:nvPr/>
        </p:nvSpPr>
        <p:spPr>
          <a:xfrm>
            <a:off x="802888" y="2060848"/>
            <a:ext cx="7450236" cy="2800767"/>
          </a:xfrm>
          <a:prstGeom prst="rect">
            <a:avLst/>
          </a:prstGeom>
          <a:noFill/>
        </p:spPr>
        <p:txBody>
          <a:bodyPr wrap="square" rtlCol="0">
            <a:spAutoFit/>
          </a:bodyPr>
          <a:lstStyle/>
          <a:p>
            <a:pPr marL="285750" indent="-285750">
              <a:buFont typeface="Wingdings" panose="05000000000000000000" pitchFamily="2" charset="2"/>
              <a:buChar char="q"/>
            </a:pPr>
            <a:r>
              <a:rPr lang="en-US" sz="1600" dirty="0">
                <a:solidFill>
                  <a:schemeClr val="tx1">
                    <a:lumMod val="85000"/>
                    <a:lumOff val="15000"/>
                  </a:schemeClr>
                </a:solidFill>
              </a:rPr>
              <a:t>Efficient delivery </a:t>
            </a:r>
            <a:r>
              <a:rPr lang="en-US" sz="1600" dirty="0" smtClean="0">
                <a:solidFill>
                  <a:schemeClr val="tx1">
                    <a:lumMod val="85000"/>
                    <a:lumOff val="15000"/>
                  </a:schemeClr>
                </a:solidFill>
              </a:rPr>
              <a:t>completion</a:t>
            </a:r>
          </a:p>
          <a:p>
            <a:pPr marL="285750" indent="-285750">
              <a:buFont typeface="Wingdings" panose="05000000000000000000" pitchFamily="2" charset="2"/>
              <a:buChar char="q"/>
            </a:pPr>
            <a:endParaRPr lang="en-US" sz="1600" dirty="0" smtClean="0">
              <a:solidFill>
                <a:schemeClr val="tx1">
                  <a:lumMod val="85000"/>
                  <a:lumOff val="15000"/>
                </a:schemeClr>
              </a:solidFill>
            </a:endParaRPr>
          </a:p>
          <a:p>
            <a:pPr marL="285750" indent="-285750">
              <a:buFont typeface="Wingdings" panose="05000000000000000000" pitchFamily="2" charset="2"/>
              <a:buChar char="q"/>
            </a:pPr>
            <a:r>
              <a:rPr lang="en-US" sz="1600" dirty="0" smtClean="0">
                <a:solidFill>
                  <a:schemeClr val="tx1">
                    <a:lumMod val="85000"/>
                    <a:lumOff val="15000"/>
                  </a:schemeClr>
                </a:solidFill>
              </a:rPr>
              <a:t>Reduced </a:t>
            </a:r>
            <a:r>
              <a:rPr lang="en-US" sz="1600" dirty="0">
                <a:solidFill>
                  <a:schemeClr val="tx1">
                    <a:lumMod val="85000"/>
                    <a:lumOff val="15000"/>
                  </a:schemeClr>
                </a:solidFill>
              </a:rPr>
              <a:t>travel distance using </a:t>
            </a:r>
            <a:r>
              <a:rPr lang="en-US" sz="1600" dirty="0" smtClean="0">
                <a:solidFill>
                  <a:schemeClr val="tx1">
                    <a:lumMod val="85000"/>
                    <a:lumOff val="15000"/>
                  </a:schemeClr>
                </a:solidFill>
              </a:rPr>
              <a:t>batching</a:t>
            </a:r>
          </a:p>
          <a:p>
            <a:pPr marL="285750" indent="-285750">
              <a:buFont typeface="Wingdings" panose="05000000000000000000" pitchFamily="2" charset="2"/>
              <a:buChar char="q"/>
            </a:pPr>
            <a:endParaRPr lang="en-US" sz="1600" dirty="0" smtClean="0">
              <a:solidFill>
                <a:schemeClr val="tx1">
                  <a:lumMod val="85000"/>
                  <a:lumOff val="15000"/>
                </a:schemeClr>
              </a:solidFill>
            </a:endParaRPr>
          </a:p>
          <a:p>
            <a:pPr marL="285750" indent="-285750">
              <a:buFont typeface="Wingdings" panose="05000000000000000000" pitchFamily="2" charset="2"/>
              <a:buChar char="q"/>
            </a:pPr>
            <a:r>
              <a:rPr lang="en-US" sz="1600" dirty="0" smtClean="0">
                <a:solidFill>
                  <a:schemeClr val="tx1">
                    <a:lumMod val="85000"/>
                    <a:lumOff val="15000"/>
                  </a:schemeClr>
                </a:solidFill>
              </a:rPr>
              <a:t>No </a:t>
            </a:r>
            <a:r>
              <a:rPr lang="en-US" sz="1600" dirty="0">
                <a:solidFill>
                  <a:schemeClr val="tx1">
                    <a:lumMod val="85000"/>
                    <a:lumOff val="15000"/>
                  </a:schemeClr>
                </a:solidFill>
              </a:rPr>
              <a:t>order starvation due to </a:t>
            </a:r>
            <a:r>
              <a:rPr lang="en-US" sz="1600" dirty="0" smtClean="0">
                <a:solidFill>
                  <a:schemeClr val="tx1">
                    <a:lumMod val="85000"/>
                    <a:lumOff val="15000"/>
                  </a:schemeClr>
                </a:solidFill>
              </a:rPr>
              <a:t>aging</a:t>
            </a:r>
          </a:p>
          <a:p>
            <a:endParaRPr lang="en-US" sz="1600" dirty="0" smtClean="0">
              <a:solidFill>
                <a:schemeClr val="tx1">
                  <a:lumMod val="85000"/>
                  <a:lumOff val="15000"/>
                </a:schemeClr>
              </a:solidFill>
            </a:endParaRPr>
          </a:p>
          <a:p>
            <a:pPr marL="285750" indent="-285750">
              <a:buFont typeface="Wingdings" panose="05000000000000000000" pitchFamily="2" charset="2"/>
              <a:buChar char="q"/>
            </a:pPr>
            <a:r>
              <a:rPr lang="en-US" sz="1600" dirty="0">
                <a:solidFill>
                  <a:schemeClr val="tx1">
                    <a:lumMod val="85000"/>
                    <a:lumOff val="15000"/>
                  </a:schemeClr>
                </a:solidFill>
              </a:rPr>
              <a:t>Handles low battery </a:t>
            </a:r>
            <a:r>
              <a:rPr lang="en-US" sz="1600" dirty="0" smtClean="0">
                <a:solidFill>
                  <a:schemeClr val="tx1">
                    <a:lumMod val="85000"/>
                    <a:lumOff val="15000"/>
                  </a:schemeClr>
                </a:solidFill>
              </a:rPr>
              <a:t>scenarios</a:t>
            </a:r>
          </a:p>
          <a:p>
            <a:pPr marL="285750" indent="-285750">
              <a:buFont typeface="Wingdings" panose="05000000000000000000" pitchFamily="2" charset="2"/>
              <a:buChar char="q"/>
            </a:pPr>
            <a:endParaRPr lang="en-US" sz="1600" dirty="0" smtClean="0">
              <a:solidFill>
                <a:schemeClr val="tx1">
                  <a:lumMod val="85000"/>
                  <a:lumOff val="15000"/>
                </a:schemeClr>
              </a:solidFill>
            </a:endParaRPr>
          </a:p>
          <a:p>
            <a:pPr marL="285750" indent="-285750">
              <a:buFont typeface="Wingdings" panose="05000000000000000000" pitchFamily="2" charset="2"/>
              <a:buChar char="q"/>
            </a:pPr>
            <a:r>
              <a:rPr lang="en-US" sz="1600" dirty="0" smtClean="0">
                <a:solidFill>
                  <a:schemeClr val="tx1">
                    <a:lumMod val="85000"/>
                    <a:lumOff val="15000"/>
                  </a:schemeClr>
                </a:solidFill>
              </a:rPr>
              <a:t>Optimal </a:t>
            </a:r>
            <a:r>
              <a:rPr lang="en-US" sz="1600" dirty="0">
                <a:solidFill>
                  <a:schemeClr val="tx1">
                    <a:lumMod val="85000"/>
                    <a:lumOff val="15000"/>
                  </a:schemeClr>
                </a:solidFill>
              </a:rPr>
              <a:t>routing using A</a:t>
            </a:r>
            <a:r>
              <a:rPr lang="en-US" sz="1600" dirty="0" smtClean="0">
                <a:solidFill>
                  <a:schemeClr val="tx1">
                    <a:lumMod val="85000"/>
                    <a:lumOff val="15000"/>
                  </a:schemeClr>
                </a:solidFill>
              </a:rPr>
              <a:t>*</a:t>
            </a:r>
          </a:p>
          <a:p>
            <a:pPr marL="285750" indent="-285750">
              <a:buFont typeface="Wingdings" panose="05000000000000000000" pitchFamily="2" charset="2"/>
              <a:buChar char="q"/>
            </a:pPr>
            <a:endParaRPr lang="en-US" sz="1600" dirty="0" smtClean="0">
              <a:solidFill>
                <a:schemeClr val="tx1">
                  <a:lumMod val="85000"/>
                  <a:lumOff val="15000"/>
                </a:schemeClr>
              </a:solidFill>
            </a:endParaRPr>
          </a:p>
          <a:p>
            <a:pPr marL="285750" indent="-285750">
              <a:buFont typeface="Wingdings" panose="05000000000000000000" pitchFamily="2" charset="2"/>
              <a:buChar char="q"/>
            </a:pPr>
            <a:r>
              <a:rPr lang="en-US" sz="1600" dirty="0" smtClean="0">
                <a:solidFill>
                  <a:schemeClr val="tx1">
                    <a:lumMod val="85000"/>
                    <a:lumOff val="15000"/>
                  </a:schemeClr>
                </a:solidFill>
              </a:rPr>
              <a:t>Dynamic </a:t>
            </a:r>
            <a:r>
              <a:rPr lang="en-US" sz="1600" dirty="0">
                <a:solidFill>
                  <a:schemeClr val="tx1">
                    <a:lumMod val="85000"/>
                    <a:lumOff val="15000"/>
                  </a:schemeClr>
                </a:solidFill>
              </a:rPr>
              <a:t>rerouting for priority orders</a:t>
            </a:r>
            <a:endParaRPr lang="en-IN" sz="1600" dirty="0">
              <a:solidFill>
                <a:schemeClr val="tx1">
                  <a:lumMod val="85000"/>
                  <a:lumOff val="15000"/>
                </a:schemeClr>
              </a:solidFill>
            </a:endParaRPr>
          </a:p>
        </p:txBody>
      </p:sp>
      <p:sp>
        <p:nvSpPr>
          <p:cNvPr id="5" name="Slide Number Placeholder 1"/>
          <p:cNvSpPr txBox="1"/>
          <p:nvPr/>
        </p:nvSpPr>
        <p:spPr>
          <a:xfrm>
            <a:off x="4385692" y="6400800"/>
            <a:ext cx="372616" cy="196552"/>
          </a:xfrm>
          <a:prstGeom prst="rect">
            <a:avLst/>
          </a:prstGeom>
          <a:solidFill>
            <a:schemeClr val="bg1"/>
          </a:solidFill>
          <a:ln>
            <a:solidFill>
              <a:schemeClr val="bg1"/>
            </a:solidFill>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48D66A2-BFCA-4667-A1CB-989A033A1578}" type="slidenum">
              <a:rPr lang="en-IN" sz="1200" smtClean="0"/>
              <a:t>8</a:t>
            </a:fld>
            <a:endParaRPr lang="en-IN"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43080" y="625043"/>
            <a:ext cx="8496944" cy="584775"/>
          </a:xfrm>
          <a:prstGeom prst="rect">
            <a:avLst/>
          </a:prstGeom>
          <a:noFill/>
        </p:spPr>
        <p:txBody>
          <a:bodyPr wrap="square" rtlCol="0">
            <a:spAutoFit/>
          </a:bodyPr>
          <a:lstStyle/>
          <a:p>
            <a:r>
              <a:rPr lang="en-IN" sz="3200" b="1" dirty="0" smtClean="0"/>
              <a:t>Conclusion</a:t>
            </a:r>
            <a:endParaRPr lang="en-IN" sz="3200" b="1" dirty="0"/>
          </a:p>
        </p:txBody>
      </p:sp>
      <p:sp>
        <p:nvSpPr>
          <p:cNvPr id="3" name="Shape 1"/>
          <p:cNvSpPr/>
          <p:nvPr/>
        </p:nvSpPr>
        <p:spPr>
          <a:xfrm>
            <a:off x="328591" y="1276421"/>
            <a:ext cx="8412480" cy="27432"/>
          </a:xfrm>
          <a:prstGeom prst="rect">
            <a:avLst/>
          </a:prstGeom>
          <a:solidFill>
            <a:schemeClr val="bg1">
              <a:lumMod val="95000"/>
            </a:schemeClr>
          </a:solidFill>
          <a:ln>
            <a:noFill/>
          </a:ln>
        </p:spPr>
      </p:sp>
      <p:sp>
        <p:nvSpPr>
          <p:cNvPr id="8" name="TextBox 7"/>
          <p:cNvSpPr txBox="1"/>
          <p:nvPr/>
        </p:nvSpPr>
        <p:spPr>
          <a:xfrm>
            <a:off x="809713" y="1700808"/>
            <a:ext cx="7450236" cy="2800767"/>
          </a:xfrm>
          <a:prstGeom prst="rect">
            <a:avLst/>
          </a:prstGeom>
          <a:noFill/>
        </p:spPr>
        <p:txBody>
          <a:bodyPr wrap="square" rtlCol="0">
            <a:spAutoFit/>
          </a:bodyPr>
          <a:lstStyle/>
          <a:p>
            <a:pPr marL="285750" indent="-285750">
              <a:buFont typeface="Wingdings" panose="05000000000000000000" pitchFamily="2" charset="2"/>
              <a:buChar char="q"/>
            </a:pPr>
            <a:r>
              <a:rPr lang="en-IN" sz="1600" dirty="0" smtClean="0">
                <a:solidFill>
                  <a:schemeClr val="tx1">
                    <a:lumMod val="85000"/>
                    <a:lumOff val="15000"/>
                  </a:schemeClr>
                </a:solidFill>
              </a:rPr>
              <a:t>3 EVs navigate, pick up &amp; deliver orders automatically</a:t>
            </a:r>
          </a:p>
          <a:p>
            <a:pPr marL="285750" indent="-285750">
              <a:buFont typeface="Wingdings" panose="05000000000000000000" pitchFamily="2" charset="2"/>
              <a:buChar char="q"/>
            </a:pPr>
            <a:endParaRPr lang="en-IN" sz="1600" dirty="0" smtClean="0">
              <a:solidFill>
                <a:schemeClr val="tx1">
                  <a:lumMod val="85000"/>
                  <a:lumOff val="15000"/>
                </a:schemeClr>
              </a:solidFill>
            </a:endParaRPr>
          </a:p>
          <a:p>
            <a:pPr marL="285750" indent="-285750">
              <a:buFont typeface="Wingdings" panose="05000000000000000000" pitchFamily="2" charset="2"/>
              <a:buChar char="q"/>
            </a:pPr>
            <a:r>
              <a:rPr lang="en-IN" sz="1600" dirty="0" smtClean="0">
                <a:solidFill>
                  <a:schemeClr val="tx1">
                    <a:lumMod val="85000"/>
                    <a:lumOff val="15000"/>
                  </a:schemeClr>
                </a:solidFill>
              </a:rPr>
              <a:t>A* algorithm finds optimal paths on the road grid</a:t>
            </a:r>
          </a:p>
          <a:p>
            <a:pPr marL="285750" indent="-285750">
              <a:buFont typeface="Wingdings" panose="05000000000000000000" pitchFamily="2" charset="2"/>
              <a:buChar char="q"/>
            </a:pPr>
            <a:endParaRPr lang="en-IN" sz="1600" dirty="0" smtClean="0">
              <a:solidFill>
                <a:schemeClr val="tx1">
                  <a:lumMod val="85000"/>
                  <a:lumOff val="15000"/>
                </a:schemeClr>
              </a:solidFill>
            </a:endParaRPr>
          </a:p>
          <a:p>
            <a:pPr marL="285750" indent="-285750">
              <a:buFont typeface="Wingdings" panose="05000000000000000000" pitchFamily="2" charset="2"/>
              <a:buChar char="q"/>
            </a:pPr>
            <a:r>
              <a:rPr lang="en-IN" sz="1600" dirty="0" smtClean="0">
                <a:solidFill>
                  <a:schemeClr val="tx1">
                    <a:lumMod val="85000"/>
                    <a:lumOff val="15000"/>
                  </a:schemeClr>
                </a:solidFill>
              </a:rPr>
              <a:t>Automatic charging happens when battery depletes</a:t>
            </a:r>
          </a:p>
          <a:p>
            <a:pPr marL="285750" indent="-285750">
              <a:buFont typeface="Wingdings" panose="05000000000000000000" pitchFamily="2" charset="2"/>
              <a:buChar char="q"/>
            </a:pPr>
            <a:endParaRPr lang="en-IN" sz="1600" dirty="0" smtClean="0">
              <a:solidFill>
                <a:schemeClr val="tx1">
                  <a:lumMod val="85000"/>
                  <a:lumOff val="15000"/>
                </a:schemeClr>
              </a:solidFill>
            </a:endParaRPr>
          </a:p>
          <a:p>
            <a:pPr marL="285750" indent="-285750">
              <a:buFont typeface="Wingdings" panose="05000000000000000000" pitchFamily="2" charset="2"/>
              <a:buChar char="q"/>
            </a:pPr>
            <a:r>
              <a:rPr lang="en-IN" sz="1600" dirty="0" smtClean="0">
                <a:solidFill>
                  <a:schemeClr val="tx1">
                    <a:lumMod val="85000"/>
                    <a:lumOff val="15000"/>
                  </a:schemeClr>
                </a:solidFill>
              </a:rPr>
              <a:t>Priority based queue + aging ensures no order is delayed</a:t>
            </a:r>
          </a:p>
          <a:p>
            <a:pPr marL="285750" indent="-285750">
              <a:buFont typeface="Wingdings" panose="05000000000000000000" pitchFamily="2" charset="2"/>
              <a:buChar char="q"/>
            </a:pPr>
            <a:endParaRPr lang="en-IN" sz="1600" dirty="0" smtClean="0">
              <a:solidFill>
                <a:schemeClr val="tx1">
                  <a:lumMod val="85000"/>
                  <a:lumOff val="15000"/>
                </a:schemeClr>
              </a:solidFill>
            </a:endParaRPr>
          </a:p>
          <a:p>
            <a:pPr marL="285750" indent="-285750">
              <a:buFont typeface="Wingdings" panose="05000000000000000000" pitchFamily="2" charset="2"/>
              <a:buChar char="q"/>
            </a:pPr>
            <a:r>
              <a:rPr lang="en-IN" sz="1600" dirty="0" smtClean="0">
                <a:solidFill>
                  <a:schemeClr val="tx1">
                    <a:lumMod val="85000"/>
                    <a:lumOff val="15000"/>
                  </a:schemeClr>
                </a:solidFill>
              </a:rPr>
              <a:t>Batching (up to 5 orders/trip) improves efficiency</a:t>
            </a:r>
          </a:p>
          <a:p>
            <a:pPr marL="285750" indent="-285750">
              <a:buFont typeface="Wingdings" panose="05000000000000000000" pitchFamily="2" charset="2"/>
              <a:buChar char="q"/>
            </a:pPr>
            <a:endParaRPr lang="en-IN" sz="1600" dirty="0">
              <a:solidFill>
                <a:schemeClr val="tx1">
                  <a:lumMod val="85000"/>
                  <a:lumOff val="15000"/>
                </a:schemeClr>
              </a:solidFill>
            </a:endParaRPr>
          </a:p>
          <a:p>
            <a:pPr marL="285750" indent="-285750">
              <a:buFont typeface="Wingdings" panose="05000000000000000000" pitchFamily="2" charset="2"/>
              <a:buChar char="q"/>
            </a:pPr>
            <a:r>
              <a:rPr lang="en-IN" sz="1600" dirty="0" smtClean="0">
                <a:solidFill>
                  <a:schemeClr val="tx1">
                    <a:lumMod val="85000"/>
                    <a:lumOff val="15000"/>
                  </a:schemeClr>
                </a:solidFill>
              </a:rPr>
              <a:t>Both Auto and Manual modes work seamlessly</a:t>
            </a:r>
            <a:endParaRPr lang="en-IN" sz="1600" dirty="0">
              <a:solidFill>
                <a:schemeClr val="tx1">
                  <a:lumMod val="85000"/>
                  <a:lumOff val="15000"/>
                </a:schemeClr>
              </a:solidFill>
            </a:endParaRPr>
          </a:p>
        </p:txBody>
      </p:sp>
      <p:sp>
        <p:nvSpPr>
          <p:cNvPr id="5" name="Slide Number Placeholder 1"/>
          <p:cNvSpPr txBox="1"/>
          <p:nvPr/>
        </p:nvSpPr>
        <p:spPr>
          <a:xfrm>
            <a:off x="4385692" y="6400800"/>
            <a:ext cx="372616" cy="196552"/>
          </a:xfrm>
          <a:prstGeom prst="rect">
            <a:avLst/>
          </a:prstGeom>
          <a:solidFill>
            <a:schemeClr val="bg1"/>
          </a:solidFill>
          <a:ln>
            <a:solidFill>
              <a:schemeClr val="bg1"/>
            </a:solidFill>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48D66A2-BFCA-4667-A1CB-989A033A1578}" type="slidenum">
              <a:rPr lang="en-IN" sz="1200" smtClean="0"/>
              <a:t>9</a:t>
            </a:fld>
            <a:endParaRPr lang="en-IN" sz="1400"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8000" y="2492896"/>
            <a:ext cx="7848000" cy="1569660"/>
          </a:xfrm>
          <a:prstGeom prst="rect">
            <a:avLst/>
          </a:prstGeom>
          <a:noFill/>
        </p:spPr>
        <p:txBody>
          <a:bodyPr wrap="square" rtlCol="0">
            <a:spAutoFit/>
            <a:scene3d>
              <a:camera prst="orthographicFront"/>
              <a:lightRig rig="brightRoom" dir="t"/>
            </a:scene3d>
            <a:sp3d contourW="6350" prstMaterial="plastic">
              <a:bevelT w="20320" h="20320" prst="angle"/>
              <a:contourClr>
                <a:schemeClr val="accent1">
                  <a:tint val="100000"/>
                  <a:shade val="100000"/>
                  <a:hueMod val="100000"/>
                  <a:satMod val="100000"/>
                </a:schemeClr>
              </a:contourClr>
            </a:sp3d>
          </a:bodyPr>
          <a:lstStyle/>
          <a:p>
            <a:pPr algn="ctr"/>
            <a:r>
              <a:rPr lang="en-IN" sz="9600" b="1" cap="all" dirty="0" smtClean="0">
                <a:solidFill>
                  <a:schemeClr val="accent1"/>
                </a:solidFill>
                <a:effectLst>
                  <a:outerShdw blurRad="19685" dist="12700" dir="5400000" algn="tl" rotWithShape="0">
                    <a:schemeClr val="accent1">
                      <a:satMod val="130000"/>
                      <a:alpha val="60000"/>
                    </a:schemeClr>
                  </a:outerShdw>
                </a:effectLst>
                <a:latin typeface="+mj-lt"/>
              </a:rPr>
              <a:t>THANK YOU</a:t>
            </a:r>
            <a:endParaRPr lang="en-IN" sz="9600" b="1" cap="all" dirty="0">
              <a:solidFill>
                <a:schemeClr val="accent1"/>
              </a:solidFill>
              <a:effectLst>
                <a:outerShdw blurRad="19685" dist="12700" dir="5400000" algn="tl" rotWithShape="0">
                  <a:schemeClr val="accent1">
                    <a:satMod val="130000"/>
                    <a:alpha val="60000"/>
                  </a:schemeClr>
                </a:outerShdw>
              </a:effectLst>
              <a:latin typeface="+mj-lt"/>
            </a:endParaRPr>
          </a:p>
        </p:txBody>
      </p:sp>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Equity">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quity">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Equity</Template>
  <TotalTime>266</TotalTime>
  <Words>1084</Words>
  <Application>Microsoft Office PowerPoint</Application>
  <PresentationFormat>On-screen Show (4:3)</PresentationFormat>
  <Paragraphs>171</Paragraphs>
  <Slides>10</Slides>
  <Notes>9</Notes>
  <HiddenSlides>0</HiddenSlides>
  <MMClips>0</MMClips>
  <ScaleCrop>false</ScaleCrop>
  <HeadingPairs>
    <vt:vector size="4" baseType="variant">
      <vt:variant>
        <vt:lpstr>Theme</vt:lpstr>
      </vt:variant>
      <vt:variant>
        <vt:i4>1</vt:i4>
      </vt:variant>
      <vt:variant>
        <vt:lpstr>Slide Titles</vt:lpstr>
      </vt:variant>
      <vt:variant>
        <vt:i4>10</vt:i4>
      </vt:variant>
    </vt:vector>
  </HeadingPairs>
  <TitlesOfParts>
    <vt:vector size="11" baseType="lpstr">
      <vt:lpstr>Equity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Asritha Munaga</dc:creator>
  <cp:lastModifiedBy>Asritha Munaga</cp:lastModifiedBy>
  <cp:revision>52</cp:revision>
  <dcterms:created xsi:type="dcterms:W3CDTF">2026-04-23T13:21:33Z</dcterms:created>
  <dcterms:modified xsi:type="dcterms:W3CDTF">2026-05-04T08:13:50Z</dcterms:modified>
</cp:coreProperties>
</file>